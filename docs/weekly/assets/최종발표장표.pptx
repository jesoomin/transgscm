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5" d="100"/>
          <a:sy n="175" d="100"/>
        </p:scale>
        <p:origin x="34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83942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【작성 가이드 — 프로젝트 개요 (권장 2분)】
● 문제 정의 (30초)
  '왜 이 프로젝트를 했는가'를 비즈니스 임팩트와 함께 간결하게 설명하세요.
● 핵심 기능 (45초)
  Agent 구성 흐름과 핵심 기술 스택을 한눈에 보이도록 서술하세요.
● 핵심 성과 (30초)
  실제 측정된 수치로 채우세요. 추정치는 '~' 를 붙이세요.
● Key Message (15초)
  심사위원이 하나만 기억한다면 이 문장이어야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【작성 가이드 — 기술 아키텍처 (권장 4분)】
● 다이어그램 (2분)
  - 시스템 전체 흐름이 한눈에 보여야 합니다
  - 사용자 입력 → 처리 → 결과 흐름을 화살표로 표시하세요
  - 컴포넌트 이름은 실제 기술명 사용 (예: LangGraph, Pinecone, GPT-4)
● 기술 선택 이유 (2분)
  - 심사위원은 LangGraph, LangChain을 '기본'으로 간주합니다
  - '기본입니다'가 아닌, 왜 이 기술이 필요했는지를 설명하세요
  - MCP, ToT, Self-Correction 등 고급 기술 사용 시 그 이유를 명확히 하세요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【작성 가이드 — 핵심 기술 과제 (권장 4분)】
● 핵심 기술 난제 (1분)
  - '왜 단순 구현으로 안 되는가'를 먼저 설명하세요
  - 심사위원은 단순 RAG / ReAct를 기본으로 봅니다. 그 한계를 명확히 제시하세요
● 엔지니어링 접근 (2분)
  - Agent의 '생각(로그)'이 고수준임을 증명해야 합니다
  - 시연 시 단순 Tool Call이 아닌 Planning / Self-Correction 로그를 보여주세요
  - 참고 논문 / 기술이 있다면 언급하면 고득점 포인트가 됩니다
● 결과 (1분)
  - 반드시 수치로 증명하세요
  - 직접 측정이 어려운 경우 '이전 대비' 상대 수치 사용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0" y="10972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kern="0" spc="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Master Project 3기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371600" y="1645920"/>
            <a:ext cx="6400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최종 발표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3931920" y="2633472"/>
            <a:ext cx="1280160" cy="54864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651760" y="28529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sz="1100" b="1">
                <a:solidFill>
                  <a:srgbClr val="333333"/>
                </a:solidFill>
                <a:latin typeface="Arial"/>
              </a:rPr>
              <a:t>과제명   G-SCM 차세대 전환 Agent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651760" y="323697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sz="1100" b="0">
                <a:solidFill>
                  <a:srgbClr val="333333"/>
                </a:solidFill>
                <a:latin typeface="Arial"/>
              </a:rPr>
              <a:t>멘   티   [성명], [사번]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651760" y="362102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sz="1100" b="0">
                <a:solidFill>
                  <a:srgbClr val="333333"/>
                </a:solidFill>
                <a:latin typeface="Arial"/>
              </a:rPr>
              <a:t>멘   토   [성명]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828800" y="4160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발표 영상 10분 이내  |  시연 영상 별도 제출 5분 이내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137160"/>
            <a:ext cx="54864" cy="402336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74904" y="137160"/>
            <a:ext cx="6766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개요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562088" y="192024"/>
            <a:ext cx="132588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62088" y="192024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권장 2분</a:t>
            </a:r>
            <a:r>
              <a:rPr lang="ko-KR" alt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이내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56032" y="576072"/>
            <a:ext cx="8631936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0" y="5029200"/>
            <a:ext cx="82296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03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256032" y="667512"/>
            <a:ext cx="4617720" cy="1810512"/>
          </a:xfrm>
          <a:prstGeom prst="rect">
            <a:avLst/>
          </a:prstGeom>
          <a:solidFill>
            <a:srgbClr val="F8F9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6032" y="667512"/>
            <a:ext cx="54864" cy="1810512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4904" y="758952"/>
            <a:ext cx="44165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문제 정의 (Vision / Problem)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74904" y="1051560"/>
            <a:ext cx="4416552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900" b="0">
                <a:solidFill>
                  <a:srgbClr val="333333"/>
                </a:solidFill>
                <a:latin typeface="Arial"/>
              </a:rPr>
              <a:t>화면-서비스 매핑(nctRid)이 명명 규칙과 일치하지 않아, 서버 로직 하나를 전환하려면 화면마다 P·F·D BizUnit과 XSQL 4종 파일을 사람이 직접 추적해야 합니다.</a:t>
            </a:r>
            <a:endParaRPr lang="en-US" sz="900" dirty="0"/>
          </a:p>
          <a:p>
            <a:pPr algn="l"/>
            <a:r>
              <a:rPr sz="400" b="0">
                <a:solidFill>
                  <a:srgbClr val="666666"/>
                </a:solidFill>
                <a:latin typeface="Arial"/>
              </a:rPr>
              <a:t/>
            </a:r>
          </a:p>
          <a:p>
            <a:pPr algn="l"/>
            <a:r>
              <a:rPr sz="900" b="1">
                <a:solidFill>
                  <a:srgbClr val="00A591"/>
                </a:solidFill>
                <a:latin typeface="Arial"/>
              </a:rPr>
              <a:t>비즈니스 임팩트</a:t>
            </a:r>
          </a:p>
          <a:p>
            <a:pPr algn="l"/>
            <a:r>
              <a:rPr sz="900" b="0">
                <a:solidFill>
                  <a:srgbClr val="666666"/>
                </a:solidFill>
                <a:latin typeface="Arial"/>
              </a:rPr>
              <a:t>이 추적이 1,416개 화면에서 반복됩니다. 게다가 원본 자체에 결함(컴파일 불가·XML 태그 불일치·SQL 문법 오류)이 섞여 있어, 정상 원본을 전제한 도구는 첫 화면에서 멈춥니다.</a:t>
            </a:r>
          </a:p>
        </p:txBody>
      </p:sp>
      <p:sp>
        <p:nvSpPr>
          <p:cNvPr id="13" name="Shape 11"/>
          <p:cNvSpPr/>
          <p:nvPr/>
        </p:nvSpPr>
        <p:spPr>
          <a:xfrm>
            <a:off x="256032" y="2569464"/>
            <a:ext cx="4617720" cy="2368296"/>
          </a:xfrm>
          <a:prstGeom prst="rect">
            <a:avLst/>
          </a:prstGeom>
          <a:solidFill>
            <a:srgbClr val="F0FDFB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6032" y="2569464"/>
            <a:ext cx="54864" cy="2368296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4904" y="2660904"/>
            <a:ext cx="44165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B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핵심 기능 (Core Features)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74904" y="2953512"/>
            <a:ext cx="4416552" cy="1911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900" b="0">
                <a:solidFill>
                  <a:srgbClr val="333333"/>
                </a:solidFill>
                <a:latin typeface="Arial"/>
              </a:rPr>
              <a:t>폴더를 지정하면 계획 수립부터 빌드 검증까지 8단계가 자동 진행되고, 사람이 승인해야만 산출물이 반영되는 레거시 전환 파이프라인</a:t>
            </a:r>
            <a:endParaRPr lang="en-US" sz="900" dirty="0"/>
          </a:p>
          <a:p>
            <a:pPr algn="l"/>
            <a:r>
              <a:rPr sz="400" b="0">
                <a:solidFill>
                  <a:srgbClr val="666666"/>
                </a:solidFill>
                <a:latin typeface="Arial"/>
              </a:rPr>
              <a:t/>
            </a:r>
          </a:p>
          <a:p>
            <a:pPr algn="l"/>
            <a:r>
              <a:rPr sz="900" b="1">
                <a:solidFill>
                  <a:srgbClr val="00A591"/>
                </a:solidFill>
                <a:latin typeface="Arial"/>
              </a:rPr>
              <a:t>에이전트 구성</a:t>
            </a:r>
          </a:p>
          <a:p>
            <a:pPr algn="l"/>
            <a:r>
              <a:rPr sz="900" b="0">
                <a:solidFill>
                  <a:srgbClr val="666666"/>
                </a:solidFill>
                <a:latin typeface="Arial"/>
              </a:rPr>
              <a:t>Planner [계획을 파일로 고정]  →  Translator [규칙·LLM 분업]</a:t>
            </a:r>
          </a:p>
          <a:p>
            <a:pPr algn="l"/>
            <a:r>
              <a:rPr sz="900" b="0">
                <a:solidFill>
                  <a:srgbClr val="666666"/>
                </a:solidFill>
                <a:latin typeface="Arial"/>
              </a:rPr>
              <a:t>→  Validator [변환기와 분리]  →  Repairer [자기 수정, 상한 2]</a:t>
            </a:r>
          </a:p>
          <a:p>
            <a:pPr algn="l"/>
            <a:r>
              <a:rPr sz="900" b="0">
                <a:solidFill>
                  <a:srgbClr val="666666"/>
                </a:solidFill>
                <a:latin typeface="Arial"/>
              </a:rPr>
              <a:t>→  Human Approval [승인 전 저장 없음]</a:t>
            </a:r>
          </a:p>
          <a:p>
            <a:pPr algn="l"/>
            <a:r>
              <a:rPr sz="400" b="0">
                <a:solidFill>
                  <a:srgbClr val="666666"/>
                </a:solidFill>
                <a:latin typeface="Arial"/>
              </a:rPr>
              <a:t/>
            </a:r>
          </a:p>
          <a:p>
            <a:pPr algn="l"/>
            <a:r>
              <a:rPr sz="900" b="1">
                <a:solidFill>
                  <a:srgbClr val="00A591"/>
                </a:solidFill>
                <a:latin typeface="Arial"/>
              </a:rPr>
              <a:t>핵심 기술 스택</a:t>
            </a:r>
          </a:p>
          <a:p>
            <a:pPr algn="l"/>
            <a:r>
              <a:rPr sz="900" b="0">
                <a:solidFill>
                  <a:srgbClr val="666666"/>
                </a:solidFill>
                <a:latin typeface="Arial"/>
              </a:rPr>
              <a:t>LangGraph StateGraph / MCP(Model Context Protocol) / Azure OpenAI 호환 사내 LLM Gateway / Tree-of-Thoughts / Oracle</a:t>
            </a:r>
          </a:p>
        </p:txBody>
      </p:sp>
      <p:sp>
        <p:nvSpPr>
          <p:cNvPr id="17" name="Text 15"/>
          <p:cNvSpPr/>
          <p:nvPr/>
        </p:nvSpPr>
        <p:spPr>
          <a:xfrm>
            <a:off x="5056632" y="667512"/>
            <a:ext cx="3831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성과 (Key Achievements)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56632" y="978408"/>
            <a:ext cx="1860804" cy="804672"/>
          </a:xfrm>
          <a:prstGeom prst="rect">
            <a:avLst/>
          </a:prstGeom>
          <a:solidFill>
            <a:srgbClr val="F5F5F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02352" y="1024128"/>
            <a:ext cx="17693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sz="2000" b="1">
                <a:solidFill>
                  <a:srgbClr val="1F3564"/>
                </a:solidFill>
                <a:latin typeface="Arial"/>
              </a:rPr>
              <a:t>100%</a:t>
            </a:r>
            <a:endParaRPr lang="en-US" dirty="0"/>
          </a:p>
          <a:p>
            <a:pPr algn="l"/>
            <a:r>
              <a:rPr sz="800" b="1">
                <a:solidFill>
                  <a:srgbClr val="333333"/>
                </a:solidFill>
                <a:latin typeface="Arial"/>
              </a:rPr>
              <a:t>원본 결함 탐지 재현율</a:t>
            </a:r>
          </a:p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정답키 30화면 대조 · 오탐 0건</a:t>
            </a:r>
          </a:p>
        </p:txBody>
      </p:sp>
      <p:sp>
        <p:nvSpPr>
          <p:cNvPr id="20" name="Shape 18"/>
          <p:cNvSpPr/>
          <p:nvPr/>
        </p:nvSpPr>
        <p:spPr>
          <a:xfrm>
            <a:off x="7027164" y="978408"/>
            <a:ext cx="1860804" cy="804672"/>
          </a:xfrm>
          <a:prstGeom prst="rect">
            <a:avLst/>
          </a:prstGeom>
          <a:solidFill>
            <a:srgbClr val="F5F5F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72884" y="1024128"/>
            <a:ext cx="17693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sz="2000" b="1">
                <a:solidFill>
                  <a:srgbClr val="1F3564"/>
                </a:solidFill>
                <a:latin typeface="Arial"/>
              </a:rPr>
              <a:t>96.7%</a:t>
            </a:r>
            <a:endParaRPr lang="en-US" dirty="0"/>
          </a:p>
          <a:p>
            <a:pPr algn="l"/>
            <a:r>
              <a:rPr sz="800" b="1">
                <a:solidFill>
                  <a:srgbClr val="333333"/>
                </a:solidFill>
                <a:latin typeface="Arial"/>
              </a:rPr>
              <a:t>정적 검증 통과율</a:t>
            </a:r>
          </a:p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29/30건 · 실패 1건은 원본 버그</a:t>
            </a:r>
          </a:p>
        </p:txBody>
      </p:sp>
      <p:sp>
        <p:nvSpPr>
          <p:cNvPr id="22" name="Shape 20"/>
          <p:cNvSpPr/>
          <p:nvPr/>
        </p:nvSpPr>
        <p:spPr>
          <a:xfrm>
            <a:off x="5056632" y="1874520"/>
            <a:ext cx="3831336" cy="804672"/>
          </a:xfrm>
          <a:prstGeom prst="rect">
            <a:avLst/>
          </a:prstGeom>
          <a:solidFill>
            <a:srgbClr val="F5F5F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48072" y="1920240"/>
            <a:ext cx="36484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sz="2000" b="1">
                <a:solidFill>
                  <a:srgbClr val="00A591"/>
                </a:solidFill>
                <a:latin typeface="Arial"/>
              </a:rPr>
              <a:t>0.20%</a:t>
            </a:r>
            <a:endParaRPr lang="en-US" dirty="0"/>
          </a:p>
          <a:p>
            <a:pPr algn="l"/>
            <a:r>
              <a:rPr sz="800" b="1">
                <a:solidFill>
                  <a:srgbClr val="333333"/>
                </a:solidFill>
                <a:latin typeface="Arial"/>
              </a:rPr>
              <a:t>사람 수정 라인 비율  —  리뷰 대상 87.3% 축소</a:t>
            </a:r>
          </a:p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자동 생성 1,960줄 중 4줄. AI 리뷰어 1차 기준 하한값입니다.</a:t>
            </a:r>
          </a:p>
        </p:txBody>
      </p:sp>
      <p:sp>
        <p:nvSpPr>
          <p:cNvPr id="24" name="Shape 22"/>
          <p:cNvSpPr/>
          <p:nvPr/>
        </p:nvSpPr>
        <p:spPr>
          <a:xfrm>
            <a:off x="5056632" y="2788920"/>
            <a:ext cx="3831336" cy="214884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56632" y="2907792"/>
            <a:ext cx="3831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Message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193792" y="3172968"/>
            <a:ext cx="355701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sz="1000" b="1">
                <a:solidFill>
                  <a:srgbClr val="333333"/>
                </a:solidFill>
                <a:latin typeface="Arial"/>
              </a:rPr>
              <a:t>“결정론으로 풀리는 변환에 LLM을 쓰지 않아 호출을 46% 줄이면서,</a:t>
            </a:r>
            <a:endParaRPr lang="en-US" sz="950" dirty="0"/>
          </a:p>
          <a:p>
            <a:pPr algn="l"/>
            <a:r>
              <a:rPr sz="1000" b="1">
                <a:solidFill>
                  <a:srgbClr val="333333"/>
                </a:solidFill>
                <a:latin typeface="Arial"/>
              </a:rPr>
              <a:t>정적 검증을 통과한 코드가 실행에서는 33%만 맞다는 사실까지</a:t>
            </a:r>
          </a:p>
          <a:p>
            <a:pPr algn="l"/>
            <a:r>
              <a:rPr sz="1000" b="1">
                <a:solidFill>
                  <a:srgbClr val="333333"/>
                </a:solidFill>
                <a:latin typeface="Arial"/>
              </a:rPr>
              <a:t>직접 측정해 100%로 닫았습니다.”</a:t>
            </a:r>
          </a:p>
          <a:p>
            <a:pPr algn="l"/>
            <a:r>
              <a:rPr sz="400" b="0">
                <a:solidFill>
                  <a:srgbClr val="666666"/>
                </a:solidFill>
                <a:latin typeface="Arial"/>
              </a:rPr>
              <a:t/>
            </a:r>
          </a:p>
          <a:p>
            <a:pPr algn="l"/>
            <a:r>
              <a:rPr sz="800" b="0">
                <a:solidFill>
                  <a:srgbClr val="00A591"/>
                </a:solidFill>
                <a:latin typeface="Arial"/>
              </a:rPr>
              <a:t>전환 스코어카드 80.9점 / 100  ·  측정 범위를 넓혀 88.2점에서 스스로 내린 값입니다.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137160"/>
            <a:ext cx="54864" cy="402336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74904" y="137160"/>
            <a:ext cx="6766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 아키텍처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562088" y="192024"/>
            <a:ext cx="132588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62088" y="192024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권장 4분</a:t>
            </a:r>
            <a:r>
              <a:rPr lang="ko-KR" alt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이내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56032" y="576072"/>
            <a:ext cx="8631936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0" y="5029200"/>
            <a:ext cx="82296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03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256032" y="667512"/>
            <a:ext cx="4617720" cy="4270248"/>
          </a:xfrm>
          <a:prstGeom prst="rect">
            <a:avLst/>
          </a:prstGeom>
          <a:solidFill>
            <a:srgbClr val="F5F5F5"/>
          </a:solidFill>
          <a:ln w="12700">
            <a:solidFill>
              <a:srgbClr val="999999"/>
            </a:solidFill>
            <a:prstDash val="sysDash"/>
          </a:ln>
        </p:spPr>
      </p:sp>
      <p:sp>
        <p:nvSpPr>
          <p:cNvPr id="11" name="Text 9"/>
          <p:cNvSpPr/>
          <p:nvPr/>
        </p:nvSpPr>
        <p:spPr>
          <a:xfrm>
            <a:off x="5056632" y="667512"/>
            <a:ext cx="38313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 아키텍처 고려 사항 </a:t>
            </a:r>
            <a:br>
              <a:rPr lang="en-US" altLang="ko-KR" sz="10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ko-KR" alt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아키텍처 구성에 대한 핵심 결정 사항을 중심으로 설명하세요 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56632" y="1005840"/>
            <a:ext cx="3831336" cy="1249680"/>
          </a:xfrm>
          <a:prstGeom prst="rect">
            <a:avLst/>
          </a:prstGeom>
          <a:solidFill>
            <a:srgbClr val="F8F9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56632" y="1005840"/>
            <a:ext cx="54864" cy="124968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84648" y="1097280"/>
            <a:ext cx="237744" cy="237744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84648" y="109728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495544" y="1097280"/>
            <a:ext cx="33192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sz="900" b="1">
                <a:solidFill>
                  <a:srgbClr val="333333"/>
                </a:solidFill>
                <a:latin typeface="Arial"/>
              </a:rPr>
              <a:t>LangGraph StateGraph + 계획 파일 고정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184648" y="1399032"/>
            <a:ext cx="3630168" cy="783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800" b="1">
                <a:solidFill>
                  <a:srgbClr val="00A591"/>
                </a:solidFill>
                <a:latin typeface="Arial"/>
              </a:rPr>
              <a:t>선택 이유 </a:t>
            </a:r>
            <a:r>
              <a:rPr sz="800" b="0">
                <a:solidFill>
                  <a:srgbClr val="666666"/>
                </a:solidFill>
                <a:latin typeface="Arial"/>
              </a:rPr>
              <a:t>단순 ReAct는 1,416회 반복 작업에서 화면마다 다른 경로를 밟아 일관성을 잃습니다.</a:t>
            </a:r>
            <a:endParaRPr lang="en-US" sz="850" dirty="0"/>
          </a:p>
          <a:p>
            <a:pPr algn="l"/>
            <a:r>
              <a:rPr sz="800" b="1">
                <a:solidFill>
                  <a:srgbClr val="00A591"/>
                </a:solidFill>
                <a:latin typeface="Arial"/>
              </a:rPr>
              <a:t>핵심 활용 </a:t>
            </a:r>
            <a:r>
              <a:rPr sz="800" b="0">
                <a:solidFill>
                  <a:srgbClr val="666666"/>
                </a:solidFill>
                <a:latin typeface="Arial"/>
              </a:rPr>
              <a:t>Planner가 코드 생성 전에 계획을 파일로 확정하고, 이후 단계는 그 계획이 지목한 대상만 호출합니다. 모델이 도구를 스스로 고르지 않습니다.</a:t>
            </a:r>
          </a:p>
        </p:txBody>
      </p:sp>
      <p:sp>
        <p:nvSpPr>
          <p:cNvPr id="18" name="Shape 16"/>
          <p:cNvSpPr/>
          <p:nvPr/>
        </p:nvSpPr>
        <p:spPr>
          <a:xfrm>
            <a:off x="5056632" y="2346960"/>
            <a:ext cx="3831336" cy="1249680"/>
          </a:xfrm>
          <a:prstGeom prst="rect">
            <a:avLst/>
          </a:prstGeom>
          <a:solidFill>
            <a:srgbClr val="F0FDFB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56632" y="2346960"/>
            <a:ext cx="54864" cy="1249680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84648" y="2438400"/>
            <a:ext cx="237744" cy="237744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84648" y="24384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495544" y="2438400"/>
            <a:ext cx="33192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sz="900" b="1">
                <a:solidFill>
                  <a:srgbClr val="333333"/>
                </a:solidFill>
                <a:latin typeface="Arial"/>
              </a:rPr>
              <a:t>MCP (Model Context Protocol)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184648" y="2740152"/>
            <a:ext cx="3630168" cy="783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800" b="1">
                <a:solidFill>
                  <a:srgbClr val="00A591"/>
                </a:solidFill>
                <a:latin typeface="Arial"/>
              </a:rPr>
              <a:t>선택 이유 </a:t>
            </a:r>
            <a:r>
              <a:rPr sz="800" b="0">
                <a:solidFill>
                  <a:srgbClr val="666666"/>
                </a:solidFill>
                <a:latin typeface="Arial"/>
              </a:rPr>
              <a:t>모델이 도구를 동적으로 고른다는 MCP 본래 가치는 '자율 탐색 에이전트를 만들지 않는다'는 원칙과 충돌합니다. 그래서 표면을 갈랐습니다.</a:t>
            </a:r>
            <a:endParaRPr lang="en-US" sz="850" dirty="0"/>
          </a:p>
          <a:p>
            <a:pPr algn="l"/>
            <a:r>
              <a:rPr sz="800" b="1">
                <a:solidFill>
                  <a:srgbClr val="00A591"/>
                </a:solidFill>
                <a:latin typeface="Arial"/>
              </a:rPr>
              <a:t>핵심 활용 </a:t>
            </a:r>
            <a:r>
              <a:rPr sz="800" b="0">
                <a:solidFill>
                  <a:srgbClr val="666666"/>
                </a:solidFill>
                <a:latin typeface="Arial"/>
              </a:rPr>
              <a:t>변환 실행은 노출하지 않고 부작용 없는 조회 4종만 노출. 실제 MCP 클라이언트로 stdio 연결해 검증했습니다.</a:t>
            </a:r>
          </a:p>
        </p:txBody>
      </p:sp>
      <p:sp>
        <p:nvSpPr>
          <p:cNvPr id="24" name="Shape 22"/>
          <p:cNvSpPr/>
          <p:nvPr/>
        </p:nvSpPr>
        <p:spPr>
          <a:xfrm>
            <a:off x="5056632" y="3688080"/>
            <a:ext cx="3831336" cy="1249680"/>
          </a:xfrm>
          <a:prstGeom prst="rect">
            <a:avLst/>
          </a:prstGeom>
          <a:solidFill>
            <a:srgbClr val="F5F5F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56632" y="3688080"/>
            <a:ext cx="54864" cy="1249680"/>
          </a:xfrm>
          <a:prstGeom prst="rect">
            <a:avLst/>
          </a:prstGeom>
          <a:solidFill>
            <a:srgbClr val="3D5A80"/>
          </a:solidFill>
          <a:ln w="12700">
            <a:solidFill>
              <a:srgbClr val="3D5A8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184648" y="3779520"/>
            <a:ext cx="237744" cy="237744"/>
          </a:xfrm>
          <a:prstGeom prst="rect">
            <a:avLst/>
          </a:prstGeom>
          <a:solidFill>
            <a:srgbClr val="3D5A80"/>
          </a:solidFill>
          <a:ln w="12700">
            <a:solidFill>
              <a:srgbClr val="3D5A8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84648" y="377952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495544" y="3779520"/>
            <a:ext cx="33192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sz="900" b="1">
                <a:solidFill>
                  <a:srgbClr val="333333"/>
                </a:solidFill>
                <a:latin typeface="Arial"/>
              </a:rPr>
              <a:t>Tree-of-Thoughts + Self-Correction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184648" y="4081272"/>
            <a:ext cx="3630168" cy="783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800" b="1">
                <a:solidFill>
                  <a:srgbClr val="00A591"/>
                </a:solidFill>
                <a:latin typeface="Arial"/>
              </a:rPr>
              <a:t>선택 이유 </a:t>
            </a:r>
            <a:r>
              <a:rPr sz="800" b="0">
                <a:solidFill>
                  <a:srgbClr val="666666"/>
                </a:solidFill>
                <a:latin typeface="Arial"/>
              </a:rPr>
              <a:t>일반적인 ToT는 모델이 자기 가지를 자기가 평가합니다. 여기엔 결정론적 검증기가 이미 있어 그 약점을 피할 수 있었습니다.</a:t>
            </a:r>
            <a:endParaRPr lang="en-US" sz="850" dirty="0"/>
          </a:p>
          <a:p>
            <a:pPr algn="l"/>
            <a:r>
              <a:rPr sz="800" b="1">
                <a:solidFill>
                  <a:srgbClr val="00A591"/>
                </a:solidFill>
                <a:latin typeface="Arial"/>
              </a:rPr>
              <a:t>핵심 활용 </a:t>
            </a:r>
            <a:r>
              <a:rPr sz="800" b="0">
                <a:solidFill>
                  <a:srgbClr val="666666"/>
                </a:solidFill>
                <a:latin typeface="Arial"/>
              </a:rPr>
              <a:t>후보를 병렬 생성 → 검증기가 잔여 BLOCKER 수로 채점 (MatchFixAgent/ACToR).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0000" y="720000"/>
            <a:ext cx="4350000" cy="1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1">
                <a:solidFill>
                  <a:srgbClr val="666666"/>
                </a:solidFill>
                <a:latin typeface="Arial"/>
              </a:rPr>
              <a:t>AS-IS  ·  화면 1개 = 5 fragment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00000" y="885000"/>
            <a:ext cx="841200" cy="210000"/>
          </a:xfrm>
          <a:prstGeom prst="roundRect">
            <a:avLst/>
          </a:prstGeom>
          <a:solidFill>
            <a:srgbClr val="E8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700" b="0">
                <a:solidFill>
                  <a:srgbClr val="333333"/>
                </a:solidFill>
                <a:latin typeface="Arial"/>
              </a:rPr>
              <a:t>.BIZUNIT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277200" y="885000"/>
            <a:ext cx="841200" cy="210000"/>
          </a:xfrm>
          <a:prstGeom prst="roundRect">
            <a:avLst/>
          </a:prstGeom>
          <a:solidFill>
            <a:srgbClr val="E8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700" b="0">
                <a:solidFill>
                  <a:srgbClr val="333333"/>
                </a:solidFill>
                <a:latin typeface="Arial"/>
              </a:rPr>
              <a:t>P BizUnit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154400" y="885000"/>
            <a:ext cx="841200" cy="210000"/>
          </a:xfrm>
          <a:prstGeom prst="roundRect">
            <a:avLst/>
          </a:prstGeom>
          <a:solidFill>
            <a:srgbClr val="E8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700" b="0">
                <a:solidFill>
                  <a:srgbClr val="333333"/>
                </a:solidFill>
                <a:latin typeface="Arial"/>
              </a:rPr>
              <a:t>F BizUnit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031600" y="885000"/>
            <a:ext cx="841200" cy="210000"/>
          </a:xfrm>
          <a:prstGeom prst="roundRect">
            <a:avLst/>
          </a:prstGeom>
          <a:solidFill>
            <a:srgbClr val="E8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700" b="0">
                <a:solidFill>
                  <a:srgbClr val="333333"/>
                </a:solidFill>
                <a:latin typeface="Arial"/>
              </a:rPr>
              <a:t>D BizUnit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908800" y="885000"/>
            <a:ext cx="841200" cy="210000"/>
          </a:xfrm>
          <a:prstGeom prst="roundRect">
            <a:avLst/>
          </a:prstGeom>
          <a:solidFill>
            <a:srgbClr val="E8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700" b="0">
                <a:solidFill>
                  <a:srgbClr val="333333"/>
                </a:solidFill>
                <a:latin typeface="Arial"/>
              </a:rPr>
              <a:t>XSQL</a:t>
            </a:r>
          </a:p>
        </p:txBody>
      </p:sp>
      <p:sp>
        <p:nvSpPr>
          <p:cNvPr id="36" name="Down Arrow 35"/>
          <p:cNvSpPr/>
          <p:nvPr/>
        </p:nvSpPr>
        <p:spPr>
          <a:xfrm>
            <a:off x="2529280" y="1103000"/>
            <a:ext cx="91440" cy="70000"/>
          </a:xfrm>
          <a:prstGeom prst="downArrow">
            <a:avLst/>
          </a:prstGeom>
          <a:solidFill>
            <a:srgbClr val="C5C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400000" y="1181000"/>
            <a:ext cx="4350000" cy="2783000"/>
          </a:xfrm>
          <a:prstGeom prst="roundRect">
            <a:avLst/>
          </a:prstGeom>
          <a:solidFill>
            <a:srgbClr val="FAFBFC"/>
          </a:solidFill>
          <a:ln w="9525">
            <a:solidFill>
              <a:srgbClr val="C5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0000" y="1241000"/>
            <a:ext cx="4170000" cy="1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1">
                <a:solidFill>
                  <a:srgbClr val="1F3564"/>
                </a:solidFill>
                <a:latin typeface="Arial"/>
              </a:rPr>
              <a:t>LangGraph StateGraph  ·  고정 파이프라인  ·  ⑤→③ 자기 수정 루프 (상한 2)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90000" y="1416000"/>
            <a:ext cx="3910000" cy="369666"/>
          </a:xfrm>
          <a:prstGeom prst="roundRect">
            <a:avLst/>
          </a:prstGeom>
          <a:solidFill>
            <a:srgbClr val="00A5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① 계획 수립  ·  conversion-plan.json 고정</a:t>
            </a:r>
          </a:p>
        </p:txBody>
      </p:sp>
      <p:sp>
        <p:nvSpPr>
          <p:cNvPr id="40" name="Down Arrow 39"/>
          <p:cNvSpPr/>
          <p:nvPr/>
        </p:nvSpPr>
        <p:spPr>
          <a:xfrm>
            <a:off x="2399280" y="1791666"/>
            <a:ext cx="91440" cy="40000"/>
          </a:xfrm>
          <a:prstGeom prst="downArrow">
            <a:avLst/>
          </a:prstGeom>
          <a:solidFill>
            <a:srgbClr val="C5C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490000" y="1837666"/>
            <a:ext cx="1931000" cy="369666"/>
          </a:xfrm>
          <a:prstGeom prst="roundRect">
            <a:avLst/>
          </a:prstGeom>
          <a:solidFill>
            <a:srgbClr val="00A5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② 규칙 변환기  46%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469000" y="1837666"/>
            <a:ext cx="1931000" cy="369666"/>
          </a:xfrm>
          <a:prstGeom prst="roundRect">
            <a:avLst/>
          </a:prstGeom>
          <a:solidFill>
            <a:srgbClr val="1F35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③ LLM 포팅  54%</a:t>
            </a:r>
          </a:p>
        </p:txBody>
      </p:sp>
      <p:sp>
        <p:nvSpPr>
          <p:cNvPr id="43" name="Down Arrow 42"/>
          <p:cNvSpPr/>
          <p:nvPr/>
        </p:nvSpPr>
        <p:spPr>
          <a:xfrm>
            <a:off x="2399280" y="2213332"/>
            <a:ext cx="91440" cy="40000"/>
          </a:xfrm>
          <a:prstGeom prst="downArrow">
            <a:avLst/>
          </a:prstGeom>
          <a:solidFill>
            <a:srgbClr val="C5C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90000" y="2259332"/>
            <a:ext cx="3910000" cy="369666"/>
          </a:xfrm>
          <a:prstGeom prst="roundRect">
            <a:avLst/>
          </a:prstGeom>
          <a:solidFill>
            <a:srgbClr val="00A5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④ 정적 검증  ·  변환기와 분리된 검증기</a:t>
            </a:r>
          </a:p>
        </p:txBody>
      </p:sp>
      <p:sp>
        <p:nvSpPr>
          <p:cNvPr id="45" name="Down Arrow 44"/>
          <p:cNvSpPr/>
          <p:nvPr/>
        </p:nvSpPr>
        <p:spPr>
          <a:xfrm>
            <a:off x="2399280" y="2634998"/>
            <a:ext cx="91440" cy="40000"/>
          </a:xfrm>
          <a:prstGeom prst="downArrow">
            <a:avLst/>
          </a:prstGeom>
          <a:solidFill>
            <a:srgbClr val="C5C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490000" y="2680998"/>
            <a:ext cx="3910000" cy="369666"/>
          </a:xfrm>
          <a:prstGeom prst="roundRect">
            <a:avLst/>
          </a:prstGeom>
          <a:solidFill>
            <a:srgbClr val="1F35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⑤ 자기 수정  ·  ToT 후보를 검증기가 채점</a:t>
            </a:r>
          </a:p>
        </p:txBody>
      </p:sp>
      <p:sp>
        <p:nvSpPr>
          <p:cNvPr id="47" name="Down Arrow 46"/>
          <p:cNvSpPr/>
          <p:nvPr/>
        </p:nvSpPr>
        <p:spPr>
          <a:xfrm>
            <a:off x="2399280" y="3056664"/>
            <a:ext cx="91440" cy="40000"/>
          </a:xfrm>
          <a:prstGeom prst="downArrow">
            <a:avLst/>
          </a:prstGeom>
          <a:solidFill>
            <a:srgbClr val="C5C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490000" y="3102664"/>
            <a:ext cx="3910000" cy="369666"/>
          </a:xfrm>
          <a:prstGeom prst="roundRect">
            <a:avLst/>
          </a:prstGeom>
          <a:solidFill>
            <a:srgbClr val="00A5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⑥ 기능 동등성 L3  ·  실제 실행 비교</a:t>
            </a:r>
          </a:p>
        </p:txBody>
      </p:sp>
      <p:sp>
        <p:nvSpPr>
          <p:cNvPr id="49" name="Down Arrow 48"/>
          <p:cNvSpPr/>
          <p:nvPr/>
        </p:nvSpPr>
        <p:spPr>
          <a:xfrm>
            <a:off x="2399280" y="3478330"/>
            <a:ext cx="91440" cy="40000"/>
          </a:xfrm>
          <a:prstGeom prst="downArrow">
            <a:avLst/>
          </a:prstGeom>
          <a:solidFill>
            <a:srgbClr val="C5C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490000" y="3524330"/>
            <a:ext cx="1931000" cy="369666"/>
          </a:xfrm>
          <a:prstGeom prst="roundRect">
            <a:avLst/>
          </a:prstGeom>
          <a:solidFill>
            <a:srgbClr val="00A5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⑦ 교차 분석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469000" y="3524330"/>
            <a:ext cx="1931000" cy="369666"/>
          </a:xfrm>
          <a:prstGeom prst="roundRect">
            <a:avLst/>
          </a:prstGeom>
          <a:solidFill>
            <a:srgbClr val="00A5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⑧ Maven 빌드</a:t>
            </a:r>
          </a:p>
        </p:txBody>
      </p:sp>
      <p:sp>
        <p:nvSpPr>
          <p:cNvPr id="52" name="Up Arrow 51"/>
          <p:cNvSpPr/>
          <p:nvPr/>
        </p:nvSpPr>
        <p:spPr>
          <a:xfrm>
            <a:off x="4450000" y="2022499"/>
            <a:ext cx="210000" cy="843332"/>
          </a:xfrm>
          <a:prstGeom prst="upArrow">
            <a:avLst/>
          </a:prstGeom>
          <a:solidFill>
            <a:srgbClr val="E2DAF2"/>
          </a:solidFill>
          <a:ln w="9525">
            <a:solidFill>
              <a:srgbClr val="B19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650" b="1">
                <a:solidFill>
                  <a:srgbClr val="5B4B8A"/>
                </a:solidFill>
                <a:latin typeface="Arial"/>
              </a:rPr>
              <a:t>재
생
성</a:t>
            </a:r>
          </a:p>
        </p:txBody>
      </p:sp>
      <p:sp>
        <p:nvSpPr>
          <p:cNvPr id="53" name="Down Arrow 52"/>
          <p:cNvSpPr/>
          <p:nvPr/>
        </p:nvSpPr>
        <p:spPr>
          <a:xfrm>
            <a:off x="2529280" y="3972000"/>
            <a:ext cx="91440" cy="70000"/>
          </a:xfrm>
          <a:prstGeom prst="downArrow">
            <a:avLst/>
          </a:prstGeom>
          <a:solidFill>
            <a:srgbClr val="C5C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400000" y="4042000"/>
            <a:ext cx="4350000" cy="250000"/>
          </a:xfrm>
          <a:prstGeom prst="roundRect">
            <a:avLst/>
          </a:prstGeom>
          <a:solidFill>
            <a:srgbClr val="B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사람 승인 게이트  —  승인 전에는 산출물·DB에 아무것도 쓰지 않는다</a:t>
            </a:r>
          </a:p>
        </p:txBody>
      </p:sp>
      <p:sp>
        <p:nvSpPr>
          <p:cNvPr id="55" name="Down Arrow 54"/>
          <p:cNvSpPr/>
          <p:nvPr/>
        </p:nvSpPr>
        <p:spPr>
          <a:xfrm>
            <a:off x="2529280" y="4300000"/>
            <a:ext cx="91440" cy="70000"/>
          </a:xfrm>
          <a:prstGeom prst="downArrow">
            <a:avLst/>
          </a:prstGeom>
          <a:solidFill>
            <a:srgbClr val="C5C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00000" y="4370000"/>
            <a:ext cx="4350000" cy="1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1">
                <a:solidFill>
                  <a:srgbClr val="666666"/>
                </a:solidFill>
                <a:latin typeface="Arial"/>
              </a:rPr>
              <a:t>TO-BE  ·  Spring / MyBatis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00000" y="4520000"/>
            <a:ext cx="841200" cy="210000"/>
          </a:xfrm>
          <a:prstGeom prst="roundRect">
            <a:avLst/>
          </a:prstGeom>
          <a:solidFill>
            <a:srgbClr val="1F35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700" b="0">
                <a:solidFill>
                  <a:srgbClr val="FFFFFF"/>
                </a:solidFill>
                <a:latin typeface="Arial"/>
              </a:rPr>
              <a:t>Api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277200" y="4520000"/>
            <a:ext cx="841200" cy="210000"/>
          </a:xfrm>
          <a:prstGeom prst="roundRect">
            <a:avLst/>
          </a:prstGeom>
          <a:solidFill>
            <a:srgbClr val="1F35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700" b="0">
                <a:solidFill>
                  <a:srgbClr val="FFFFFF"/>
                </a:solidFill>
                <a:latin typeface="Arial"/>
              </a:rPr>
              <a:t>Service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2154400" y="4520000"/>
            <a:ext cx="841200" cy="210000"/>
          </a:xfrm>
          <a:prstGeom prst="roundRect">
            <a:avLst/>
          </a:prstGeom>
          <a:solidFill>
            <a:srgbClr val="1F35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700" b="0">
                <a:solidFill>
                  <a:srgbClr val="FFFFFF"/>
                </a:solidFill>
                <a:latin typeface="Arial"/>
              </a:rPr>
              <a:t>Store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031600" y="4520000"/>
            <a:ext cx="841200" cy="210000"/>
          </a:xfrm>
          <a:prstGeom prst="roundRect">
            <a:avLst/>
          </a:prstGeom>
          <a:solidFill>
            <a:srgbClr val="1F35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700" b="0">
                <a:solidFill>
                  <a:srgbClr val="FFFFFF"/>
                </a:solidFill>
                <a:latin typeface="Arial"/>
              </a:rPr>
              <a:t>Dto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908800" y="4520000"/>
            <a:ext cx="841200" cy="210000"/>
          </a:xfrm>
          <a:prstGeom prst="roundRect">
            <a:avLst/>
          </a:prstGeom>
          <a:solidFill>
            <a:srgbClr val="1F35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700" b="0">
                <a:solidFill>
                  <a:srgbClr val="FFFFFF"/>
                </a:solidFill>
                <a:latin typeface="Arial"/>
              </a:rPr>
              <a:t>Mapper.xml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00000" y="4764000"/>
            <a:ext cx="4350000" cy="1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50" b="0">
                <a:solidFill>
                  <a:srgbClr val="666666"/>
                </a:solidFill>
                <a:latin typeface="Arial"/>
              </a:rPr>
              <a:t>MCP 조회 서버(읽기 전용 4종)는 ①④⑦의 그래프만 노출 — 변환 실행은 노출하지 않는다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137160"/>
            <a:ext cx="54864" cy="402336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74904" y="137160"/>
            <a:ext cx="6766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기술 과제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562088" y="192024"/>
            <a:ext cx="132588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62088" y="192024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권장 4분</a:t>
            </a:r>
            <a:r>
              <a:rPr lang="ko-KR" alt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이내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56032" y="576072"/>
            <a:ext cx="8631936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0" y="5029200"/>
            <a:ext cx="82296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03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256032" y="667512"/>
            <a:ext cx="8631936" cy="987552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" y="7589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기술 난제 (Hurdle)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20624" y="1033272"/>
            <a:ext cx="8302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900" b="0">
                <a:solidFill>
                  <a:srgbClr val="333333"/>
                </a:solidFill>
                <a:latin typeface="Arial"/>
              </a:rPr>
              <a:t>정적 검증을 100% 통과한 코드가 실제 실행에서는 동작이 달랐습니다. 그런데 AS-IS 레포에 테스트가 없어 '기능이 맞는지'를 검증할 수단 자체가 없었습니다.</a:t>
            </a:r>
            <a:endParaRPr lang="en-US" sz="1000" dirty="0"/>
          </a:p>
          <a:p>
            <a:pPr algn="l"/>
            <a:r>
              <a:rPr sz="900" b="0">
                <a:solidFill>
                  <a:srgbClr val="666666"/>
                </a:solidFill>
                <a:latin typeface="Arial"/>
              </a:rPr>
              <a:t>AlphaTrans(FSE 2025)도 같은 간극을 보고합니다 — 문법 96.40% vs 기능 동등성 25.14%.</a:t>
            </a:r>
          </a:p>
        </p:txBody>
      </p:sp>
      <p:sp>
        <p:nvSpPr>
          <p:cNvPr id="12" name="Shape 10"/>
          <p:cNvSpPr/>
          <p:nvPr/>
        </p:nvSpPr>
        <p:spPr>
          <a:xfrm>
            <a:off x="256032" y="1764792"/>
            <a:ext cx="4620768" cy="3172968"/>
          </a:xfrm>
          <a:prstGeom prst="rect">
            <a:avLst/>
          </a:prstGeom>
          <a:solidFill>
            <a:srgbClr val="F8F9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6032" y="1764792"/>
            <a:ext cx="54864" cy="3172968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4904" y="1856232"/>
            <a:ext cx="40416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엔지니어링 접근 방법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84048" y="2167128"/>
            <a:ext cx="40233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900" b="1">
                <a:solidFill>
                  <a:srgbClr val="00A591"/>
                </a:solidFill>
                <a:latin typeface="Arial"/>
              </a:rPr>
              <a:t>전제를 의심했습니다</a:t>
            </a:r>
            <a:endParaRPr lang="en-US" sz="900" dirty="0"/>
          </a:p>
          <a:p>
            <a:pPr algn="l"/>
            <a:r>
              <a:rPr sz="800" b="0">
                <a:solidFill>
                  <a:srgbClr val="666666"/>
                </a:solidFill>
                <a:latin typeface="Arial"/>
              </a:rPr>
              <a:t>"실행할 수단이 없다"가 틀렸습니다. 필요한 건 애플리케이션 기동이 아니라 F 메서드를 부를 최소 환경이었고, AS-IS가 쓰는 프레임워크 API는 10개 남짓의 닫힌 집합이었습니다.</a:t>
            </a:r>
          </a:p>
          <a:p>
            <a:pPr algn="l"/>
            <a:r>
              <a:rPr sz="300" b="0">
                <a:solidFill>
                  <a:srgbClr val="666666"/>
                </a:solidFill>
                <a:latin typeface="Arial"/>
              </a:rPr>
              <a:t/>
            </a:r>
          </a:p>
          <a:p>
            <a:pPr algn="l"/>
            <a:r>
              <a:rPr sz="800" b="1">
                <a:solidFill>
                  <a:srgbClr val="333333"/>
                </a:solidFill>
                <a:latin typeface="Arial"/>
              </a:rPr>
              <a:t>① 최소 실행 하네스 (L3)</a:t>
            </a:r>
          </a:p>
          <a:p>
            <a:pPr algn="l"/>
            <a:r>
              <a:rPr sz="800" b="0">
                <a:solidFill>
                  <a:srgbClr val="666666"/>
                </a:solidFill>
                <a:latin typeface="Arial"/>
              </a:rPr>
              <a:t>데이터 계층을 양쪽 동일한 캔드 데이터로 고정 → 두 실행의 차이가 오직 포팅 차이에서만 나오게 설계. 0행/1행/3행으로 분기 경로를 훑습니다.</a:t>
            </a:r>
          </a:p>
          <a:p>
            <a:pPr algn="l"/>
            <a:r>
              <a:rPr sz="800" b="1">
                <a:solidFill>
                  <a:srgbClr val="333333"/>
                </a:solidFill>
                <a:latin typeface="Arial"/>
              </a:rPr>
              <a:t>② 피호출자 계약 JSON 주입</a:t>
            </a:r>
          </a:p>
          <a:p>
            <a:pPr algn="l"/>
            <a:r>
              <a:rPr sz="800" b="0">
                <a:solidFill>
                  <a:srgbClr val="666666"/>
                </a:solidFill>
                <a:latin typeface="Arial"/>
              </a:rPr>
              <a:t>콜그래프에서 뽑은 실제 메서드명·반환 타입·카디널리티 불일치를 프롬프트에 명시적 계약으로 전달 (AlphaTrans의 조각별 콜러/콜리 메타데이터 방식).</a:t>
            </a:r>
          </a:p>
          <a:p>
            <a:pPr algn="l"/>
            <a:r>
              <a:rPr sz="800" b="1">
                <a:solidFill>
                  <a:srgbClr val="333333"/>
                </a:solidFill>
                <a:latin typeface="Arial"/>
              </a:rPr>
              <a:t>③ ToT 수리 — 채점자를 LLM에서 분리</a:t>
            </a:r>
          </a:p>
          <a:p>
            <a:pPr algn="l"/>
            <a:r>
              <a:rPr sz="800" b="0">
                <a:solidFill>
                  <a:srgbClr val="666666"/>
                </a:solidFill>
                <a:latin typeface="Arial"/>
              </a:rPr>
              <a:t>후보를 병렬 생성하고 결정론적 검증기가 잔여 BLOCKER 수로 채점. 모델의 자기평가를 쓰지 않습니다.</a:t>
            </a:r>
          </a:p>
          <a:p>
            <a:pPr algn="l"/>
            <a:r>
              <a:rPr sz="800" b="1">
                <a:solidFill>
                  <a:srgbClr val="333333"/>
                </a:solidFill>
                <a:latin typeface="Arial"/>
              </a:rPr>
              <a:t>④ 자동화하지 않을 것을 정했습니다</a:t>
            </a:r>
          </a:p>
          <a:p>
            <a:pPr algn="l"/>
            <a:r>
              <a:rPr sz="800" b="0">
                <a:solidFill>
                  <a:srgbClr val="666666"/>
                </a:solidFill>
                <a:latin typeface="Arial"/>
              </a:rPr>
              <a:t>원본 결함은 고치지 않고 보존·표시하고, 본 적 없는 패턴엔 규칙을 만들지 않습니다.</a:t>
            </a: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42F27494-48CC-B67F-5091-7461D87EE359}"/>
              </a:ext>
            </a:extLst>
          </p:cNvPr>
          <p:cNvGrpSpPr/>
          <p:nvPr/>
        </p:nvGrpSpPr>
        <p:grpSpPr>
          <a:xfrm>
            <a:off x="5058229" y="1764792"/>
            <a:ext cx="3829739" cy="3172968"/>
            <a:chOff x="4645152" y="1764792"/>
            <a:chExt cx="4242816" cy="3172968"/>
          </a:xfrm>
        </p:grpSpPr>
        <p:sp>
          <p:nvSpPr>
            <p:cNvPr id="16" name="Shape 14"/>
            <p:cNvSpPr/>
            <p:nvPr/>
          </p:nvSpPr>
          <p:spPr>
            <a:xfrm>
              <a:off x="4645152" y="1764792"/>
              <a:ext cx="4242816" cy="3172968"/>
            </a:xfrm>
            <a:prstGeom prst="rect">
              <a:avLst/>
            </a:prstGeom>
            <a:solidFill>
              <a:srgbClr val="F0FDFB"/>
            </a:solidFill>
            <a:ln w="12700">
              <a:solidFill>
                <a:srgbClr val="E5E5E5"/>
              </a:solidFill>
              <a:prstDash val="solid"/>
            </a:ln>
          </p:spPr>
        </p:sp>
        <p:sp>
          <p:nvSpPr>
            <p:cNvPr id="17" name="Shape 15"/>
            <p:cNvSpPr/>
            <p:nvPr/>
          </p:nvSpPr>
          <p:spPr>
            <a:xfrm>
              <a:off x="4645152" y="1764792"/>
              <a:ext cx="54864" cy="3172968"/>
            </a:xfrm>
            <a:prstGeom prst="rect">
              <a:avLst/>
            </a:prstGeom>
            <a:solidFill>
              <a:srgbClr val="4ECDC4"/>
            </a:solidFill>
            <a:ln w="12700">
              <a:solidFill>
                <a:srgbClr val="4ECDC4"/>
              </a:solidFill>
              <a:prstDash val="solid"/>
            </a:ln>
          </p:spPr>
        </p:sp>
        <p:sp>
          <p:nvSpPr>
            <p:cNvPr id="18" name="Text 16"/>
            <p:cNvSpPr/>
            <p:nvPr/>
          </p:nvSpPr>
          <p:spPr>
            <a:xfrm>
              <a:off x="4764024" y="1856232"/>
              <a:ext cx="4041648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3BB8B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결과 및 성과 </a:t>
              </a:r>
              <a:r>
                <a:rPr lang="en-US" sz="1000" b="1" dirty="0">
                  <a:solidFill>
                    <a:schemeClr val="bg1">
                      <a:lumMod val="50000"/>
                    </a:scheme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(</a:t>
              </a:r>
              <a:r>
                <a:rPr lang="en-US" sz="1000" b="1" dirty="0" err="1">
                  <a:solidFill>
                    <a:schemeClr val="bg1">
                      <a:lumMod val="50000"/>
                    </a:scheme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수치로</a:t>
              </a:r>
              <a:r>
                <a:rPr lang="en-US" sz="1000" b="1" dirty="0">
                  <a:solidFill>
                    <a:schemeClr val="bg1">
                      <a:lumMod val="50000"/>
                    </a:scheme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ko-KR" altLang="en-US" sz="1000" b="1" dirty="0">
                  <a:solidFill>
                    <a:schemeClr val="bg1">
                      <a:lumMod val="50000"/>
                    </a:scheme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제시</a:t>
              </a:r>
              <a:r>
                <a:rPr lang="en-US" sz="1000" b="1" dirty="0">
                  <a:solidFill>
                    <a:schemeClr val="bg1">
                      <a:lumMod val="50000"/>
                    </a:scheme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)</a:t>
              </a:r>
              <a:endParaRPr 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9" name="Shape 17"/>
            <p:cNvSpPr/>
            <p:nvPr/>
          </p:nvSpPr>
          <p:spPr>
            <a:xfrm>
              <a:off x="4773168" y="2194560"/>
              <a:ext cx="4023360" cy="81381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5E5E5"/>
              </a:solidFill>
              <a:prstDash val="solid"/>
            </a:ln>
          </p:spPr>
        </p:sp>
        <p:sp>
          <p:nvSpPr>
            <p:cNvPr id="20" name="Text 18"/>
            <p:cNvSpPr/>
            <p:nvPr/>
          </p:nvSpPr>
          <p:spPr>
            <a:xfrm>
              <a:off x="4828032" y="2194560"/>
              <a:ext cx="822960" cy="8138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r>
                <a:rPr sz="1600" b="1">
                  <a:solidFill>
                    <a:srgbClr val="1F3564"/>
                  </a:solidFill>
                  <a:latin typeface="Arial"/>
                </a:rPr>
                <a:t>33%→</a:t>
              </a:r>
              <a:endParaRPr lang="en-US" sz="1800" dirty="0"/>
            </a:p>
            <a:p>
              <a:pPr algn="l"/>
              <a:r>
                <a:rPr sz="1600" b="1">
                  <a:solidFill>
                    <a:srgbClr val="00A591"/>
                  </a:solidFill>
                  <a:latin typeface="Arial"/>
                </a:rPr>
                <a:t>100%</a:t>
              </a:r>
            </a:p>
          </p:txBody>
        </p:sp>
        <p:sp>
          <p:nvSpPr>
            <p:cNvPr id="21" name="Shape 19"/>
            <p:cNvSpPr/>
            <p:nvPr/>
          </p:nvSpPr>
          <p:spPr>
            <a:xfrm>
              <a:off x="5696712" y="2373600"/>
              <a:ext cx="0" cy="455737"/>
            </a:xfrm>
            <a:prstGeom prst="line">
              <a:avLst/>
            </a:prstGeom>
            <a:noFill/>
            <a:ln w="12700">
              <a:solidFill>
                <a:srgbClr val="E5E5E5"/>
              </a:solidFill>
              <a:prstDash val="solid"/>
            </a:ln>
          </p:spPr>
        </p:sp>
        <p:sp>
          <p:nvSpPr>
            <p:cNvPr id="22" name="Text 20"/>
            <p:cNvSpPr/>
            <p:nvPr/>
          </p:nvSpPr>
          <p:spPr>
            <a:xfrm>
              <a:off x="5797296" y="2249424"/>
              <a:ext cx="2907792" cy="7040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r>
                <a:rPr sz="900" b="1">
                  <a:solidFill>
                    <a:srgbClr val="333333"/>
                  </a:solidFill>
                  <a:latin typeface="Arial"/>
                </a:rPr>
                <a:t>F 계층 실행 일치율</a:t>
              </a:r>
              <a:endParaRPr lang="en-US" sz="850" dirty="0"/>
            </a:p>
            <a:p>
              <a:pPr algn="l"/>
              <a:r>
                <a:rPr sz="700" b="0">
                  <a:solidFill>
                    <a:srgbClr val="666666"/>
                  </a:solidFill>
                  <a:latin typeface="Arial"/>
                </a:rPr>
                <a:t>정적 검증을 통과한 코드가 27건 중 9건만 일치. 원인(배관 규칙이 레코드셋 추출 단계를 빠뜨림)을 고쳐 48/48.</a:t>
              </a:r>
            </a:p>
          </p:txBody>
        </p:sp>
        <p:sp>
          <p:nvSpPr>
            <p:cNvPr id="23" name="Shape 21"/>
            <p:cNvSpPr/>
            <p:nvPr/>
          </p:nvSpPr>
          <p:spPr>
            <a:xfrm>
              <a:off x="4773168" y="3090672"/>
              <a:ext cx="4023360" cy="81381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5E5E5"/>
              </a:solidFill>
              <a:prstDash val="solid"/>
            </a:ln>
          </p:spPr>
        </p:sp>
        <p:sp>
          <p:nvSpPr>
            <p:cNvPr id="24" name="Text 22"/>
            <p:cNvSpPr/>
            <p:nvPr/>
          </p:nvSpPr>
          <p:spPr>
            <a:xfrm>
              <a:off x="4828032" y="3090672"/>
              <a:ext cx="822960" cy="8138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r>
                <a:rPr sz="1600" b="1">
                  <a:solidFill>
                    <a:srgbClr val="1F3564"/>
                  </a:solidFill>
                  <a:latin typeface="Arial"/>
                </a:rPr>
                <a:t>0/9→</a:t>
              </a:r>
              <a:endParaRPr lang="en-US" sz="1800" dirty="0"/>
            </a:p>
            <a:p>
              <a:pPr algn="l"/>
              <a:r>
                <a:rPr sz="1600" b="1">
                  <a:solidFill>
                    <a:srgbClr val="00A591"/>
                  </a:solidFill>
                  <a:latin typeface="Arial"/>
                </a:rPr>
                <a:t>9/9</a:t>
              </a:r>
            </a:p>
          </p:txBody>
        </p:sp>
        <p:sp>
          <p:nvSpPr>
            <p:cNvPr id="25" name="Shape 23"/>
            <p:cNvSpPr/>
            <p:nvPr/>
          </p:nvSpPr>
          <p:spPr>
            <a:xfrm>
              <a:off x="5696712" y="3269712"/>
              <a:ext cx="0" cy="455737"/>
            </a:xfrm>
            <a:prstGeom prst="line">
              <a:avLst/>
            </a:prstGeom>
            <a:noFill/>
            <a:ln w="12700">
              <a:solidFill>
                <a:srgbClr val="E5E5E5"/>
              </a:solidFill>
              <a:prstDash val="solid"/>
            </a:ln>
          </p:spPr>
        </p:sp>
        <p:sp>
          <p:nvSpPr>
            <p:cNvPr id="26" name="Text 24"/>
            <p:cNvSpPr/>
            <p:nvPr/>
          </p:nvSpPr>
          <p:spPr>
            <a:xfrm>
              <a:off x="5797296" y="3145536"/>
              <a:ext cx="2907792" cy="7040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r>
                <a:rPr sz="900" b="1">
                  <a:solidFill>
                    <a:srgbClr val="333333"/>
                  </a:solidFill>
                  <a:latin typeface="Arial"/>
                </a:rPr>
                <a:t>Api 계층 페이로드 일치율</a:t>
              </a:r>
              <a:endParaRPr lang="en-US" sz="850" dirty="0"/>
            </a:p>
            <a:p>
              <a:pPr algn="l"/>
              <a:r>
                <a:rPr sz="700" b="0">
                  <a:solidFill>
                    <a:srgbClr val="666666"/>
                  </a:solidFill>
                  <a:latin typeface="Arial"/>
                </a:rPr>
                <a:t>"P는 순수 위임"이 표본 1건짜리 가정이었음을 코퍼스 30화면 전수 확인으로 발견. 권한 게이트가 통째로 빠져 있었습니다.</a:t>
              </a:r>
            </a:p>
          </p:txBody>
        </p:sp>
        <p:sp>
          <p:nvSpPr>
            <p:cNvPr id="27" name="Shape 25"/>
            <p:cNvSpPr/>
            <p:nvPr/>
          </p:nvSpPr>
          <p:spPr>
            <a:xfrm>
              <a:off x="4773168" y="3986784"/>
              <a:ext cx="4023360" cy="81381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5E5E5"/>
              </a:solidFill>
              <a:prstDash val="solid"/>
            </a:ln>
          </p:spPr>
        </p:sp>
        <p:sp>
          <p:nvSpPr>
            <p:cNvPr id="28" name="Text 26"/>
            <p:cNvSpPr/>
            <p:nvPr/>
          </p:nvSpPr>
          <p:spPr>
            <a:xfrm>
              <a:off x="4828032" y="3986784"/>
              <a:ext cx="822960" cy="8138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r>
                <a:rPr sz="1600" b="1">
                  <a:solidFill>
                    <a:srgbClr val="1F3564"/>
                  </a:solidFill>
                  <a:latin typeface="Arial"/>
                </a:rPr>
                <a:t>5→</a:t>
              </a:r>
              <a:endParaRPr lang="en-US" sz="1800" dirty="0"/>
            </a:p>
            <a:p>
              <a:pPr algn="l"/>
              <a:r>
                <a:rPr sz="1600" b="1">
                  <a:solidFill>
                    <a:srgbClr val="00A591"/>
                  </a:solidFill>
                  <a:latin typeface="Arial"/>
                </a:rPr>
                <a:t>1건</a:t>
              </a:r>
            </a:p>
          </p:txBody>
        </p:sp>
        <p:sp>
          <p:nvSpPr>
            <p:cNvPr id="29" name="Shape 27"/>
            <p:cNvSpPr/>
            <p:nvPr/>
          </p:nvSpPr>
          <p:spPr>
            <a:xfrm>
              <a:off x="5696712" y="4165824"/>
              <a:ext cx="0" cy="455737"/>
            </a:xfrm>
            <a:prstGeom prst="line">
              <a:avLst/>
            </a:prstGeom>
            <a:noFill/>
            <a:ln w="12700">
              <a:solidFill>
                <a:srgbClr val="E5E5E5"/>
              </a:solidFill>
              <a:prstDash val="solid"/>
            </a:ln>
          </p:spPr>
        </p:sp>
        <p:sp>
          <p:nvSpPr>
            <p:cNvPr id="30" name="Text 28"/>
            <p:cNvSpPr/>
            <p:nvPr/>
          </p:nvSpPr>
          <p:spPr>
            <a:xfrm>
              <a:off x="5797296" y="4041648"/>
              <a:ext cx="2907792" cy="7040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r>
                <a:rPr sz="900" b="1">
                  <a:solidFill>
                    <a:srgbClr val="333333"/>
                  </a:solidFill>
                  <a:latin typeface="Arial"/>
                </a:rPr>
                <a:t>화면당 LLM 포팅 호출</a:t>
              </a:r>
              <a:endParaRPr lang="en-US" sz="850" dirty="0"/>
            </a:p>
            <a:p>
              <a:pPr algn="l"/>
              <a:r>
                <a:rPr sz="700" b="0">
                  <a:solidFill>
                    <a:srgbClr val="666666"/>
                  </a:solidFill>
                  <a:latin typeface="Arial"/>
                </a:rPr>
                <a:t>재시도 루프가 성공 불가능한 대상을 반복 호출하던 낭비 80%를 제거. 규칙 기반 회피 46% 포함.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928</Words>
  <Application>Microsoft Macintosh PowerPoint</Application>
  <PresentationFormat>화면 슬라이드 쇼(16:9)</PresentationFormat>
  <Paragraphs>102</Paragraphs>
  <Slides>4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8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Master Project 발표 자료 템플릿 v1.0</dc:title>
  <dc:subject>PptxGenJS Presentation</dc:subject>
  <dc:creator>PptxGenJS</dc:creator>
  <cp:lastModifiedBy>07457</cp:lastModifiedBy>
  <cp:revision>4</cp:revision>
  <dcterms:created xsi:type="dcterms:W3CDTF">2026-03-16T07:29:48Z</dcterms:created>
  <dcterms:modified xsi:type="dcterms:W3CDTF">2026-03-16T08:12:05Z</dcterms:modified>
</cp:coreProperties>
</file>