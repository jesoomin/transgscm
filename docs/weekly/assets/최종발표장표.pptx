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5" d="100"/>
          <a:sy n="175" d="100"/>
        </p:scale>
        <p:origin x="34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839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프로젝트 개요 (권장 2분)】
● 문제 정의 (30초)
  '왜 이 프로젝트를 했는가'를 비즈니스 임팩트와 함께 간결하게 설명하세요.
● 핵심 기능 (45초)
  Agent 구성 흐름과 핵심 기술 스택을 한눈에 보이도록 서술하세요.
● 핵심 성과 (30초)
  실제 측정된 수치로 채우세요. 추정치는 '~' 를 붙이세요.
● Key Message (15초)
  심사위원이 하나만 기억한다면 이 문장이어야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기술 아키텍처 (권장 4분)】
● 다이어그램 (2분)
  - 시스템 전체 흐름이 한눈에 보여야 합니다
  - 사용자 입력 → 처리 → 결과 흐름을 화살표로 표시하세요
  - 컴포넌트 이름은 실제 기술명 사용 (예: LangGraph, Pinecone, GPT-4)
● 기술 선택 이유 (2분)
  - 심사위원은 LangGraph, LangChain을 '기본'으로 간주합니다
  - '기본입니다'가 아닌, 왜 이 기술이 필요했는지를 설명하세요
  - MCP, ToT, Self-Correction 등 고급 기술 사용 시 그 이유를 명확히 하세요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【작성 가이드 — 핵심 기술 과제 (권장 4분)】
● 핵심 기술 난제 (1분)
  - '왜 단순 구현으로 안 되는가'를 먼저 설명하세요
  - 심사위원은 단순 RAG / ReAct를 기본으로 봅니다. 그 한계를 명확히 제시하세요
● 엔지니어링 접근 (2분)
  - Agent의 '생각(로그)'이 고수준임을 증명해야 합니다
  - 시연 시 단순 Tool Call이 아닌 Planning / Self-Correction 로그를 보여주세요
  - 참고 논문 / 기술이 있다면 언급하면 고득점 포인트가 됩니다
● 결과 (1분)
  - 반드시 수치로 증명하세요
  - 직접 측정이 어려운 경우 '이전 대비' 상대 수치 사용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Master Project 3기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645920"/>
            <a:ext cx="6400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발표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931920" y="2633472"/>
            <a:ext cx="1280160" cy="5486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51760" y="28529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333333"/>
                </a:solidFill>
                <a:latin typeface="Arial"/>
              </a:rPr>
              <a:t>과제명   G-SCM 차세대 전환 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51760" y="32369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티   [성명], [사번]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51760" y="362102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100" b="0">
                <a:solidFill>
                  <a:srgbClr val="333333"/>
                </a:solidFill>
                <a:latin typeface="Arial"/>
              </a:rPr>
              <a:t>멘   토   [성명]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288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발표 영상 10분 이내  |  시연 영상 별도 제출 5분 이내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 개요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2분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1810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6032" y="667512"/>
            <a:ext cx="54864" cy="181051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4904" y="758952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문제 정의 (Vision / Problem)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" y="1051560"/>
            <a:ext cx="441655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화면-서비스 매핑(nctRid)이 명명 규칙과 불일치</a:t>
            </a:r>
            <a:endParaRPr lang="en-US" sz="9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→ 서버 로직 1건 전환에 P·F·D·XSQL 4종 파일 수작업 추적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규모  </a:t>
            </a:r>
            <a:r>
              <a:rPr sz="900" b="0">
                <a:solidFill>
                  <a:srgbClr val="666666"/>
                </a:solidFill>
                <a:latin typeface="Arial"/>
              </a:rPr>
              <a:t>1,416개 화면에서 동일 추적 반복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품질  </a:t>
            </a:r>
            <a:r>
              <a:rPr sz="900" b="0">
                <a:solidFill>
                  <a:srgbClr val="666666"/>
                </a:solidFill>
                <a:latin typeface="Arial"/>
              </a:rPr>
              <a:t>개발자별 응답·예외 처리 이원화</a:t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리스크  </a:t>
            </a:r>
            <a:r>
              <a:rPr sz="900" b="0">
                <a:solidFill>
                  <a:srgbClr val="666666"/>
                </a:solidFill>
                <a:latin typeface="Arial"/>
              </a:rPr>
              <a:t>원본에 결함 혼재 — 컴파일 불가·XML·SQL 오류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333333"/>
                </a:solidFill>
                <a:latin typeface="Arial"/>
              </a:rPr>
              <a:t>정상 원본을 전제한 도구는 첫 화면에서 멈춤</a:t>
            </a:r>
          </a:p>
        </p:txBody>
      </p:sp>
      <p:sp>
        <p:nvSpPr>
          <p:cNvPr id="13" name="Shape 11"/>
          <p:cNvSpPr/>
          <p:nvPr/>
        </p:nvSpPr>
        <p:spPr>
          <a:xfrm>
            <a:off x="256032" y="2569464"/>
            <a:ext cx="4617720" cy="2368296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2569464"/>
            <a:ext cx="54864" cy="2368296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904" y="2660904"/>
            <a:ext cx="4416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B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핵심 기능 (Core Features)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" y="2953512"/>
            <a:ext cx="4416552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폴더 지정 → 8단계 자동 진행 → 사람 승인 후에만 반영</a:t>
            </a:r>
            <a:endParaRPr lang="en-US" sz="900" dirty="0"/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에이전트 구성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Planner  계획 파일 고정 (LLM 미사용)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Translator  규칙 46% / LLM 54% 분업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Validator  변환기와 분리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Repairer  검증 기반 자가 교정, 회차 상한 2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Human Approval  승인 전 저장 0건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900" b="1">
                <a:solidFill>
                  <a:srgbClr val="00A591"/>
                </a:solidFill>
                <a:latin typeface="Arial"/>
              </a:rPr>
              <a:t>기술 스택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LangGraph StateGraph · MCP(Model Context Protocol)</a:t>
            </a:r>
          </a:p>
          <a:p>
            <a:pPr algn="l"/>
            <a:r>
              <a:rPr sz="850" b="0">
                <a:solidFill>
                  <a:srgbClr val="666666"/>
                </a:solidFill>
                <a:latin typeface="Arial"/>
              </a:rPr>
              <a:t>Azure OpenAI 호환 사내 LLM Gateway · Tree-of-Thoughts · Oracle</a:t>
            </a:r>
          </a:p>
        </p:txBody>
      </p:sp>
      <p:sp>
        <p:nvSpPr>
          <p:cNvPr id="17" name="Text 15"/>
          <p:cNvSpPr/>
          <p:nvPr/>
        </p:nvSpPr>
        <p:spPr>
          <a:xfrm>
            <a:off x="5056632" y="667512"/>
            <a:ext cx="3831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성과 (Key Achievements)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56632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02352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100%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원본 결함 탐지 탐지율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30화면 정답키 · 오탐 0건</a:t>
            </a:r>
          </a:p>
        </p:txBody>
      </p:sp>
      <p:sp>
        <p:nvSpPr>
          <p:cNvPr id="20" name="Shape 18"/>
          <p:cNvSpPr/>
          <p:nvPr/>
        </p:nvSpPr>
        <p:spPr>
          <a:xfrm>
            <a:off x="7027164" y="978408"/>
            <a:ext cx="1860804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72884" y="1024128"/>
            <a:ext cx="17693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1F3564"/>
                </a:solidFill>
                <a:latin typeface="Arial"/>
              </a:rPr>
              <a:t>96.7%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정적 검증 통과율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29/30건</a:t>
            </a:r>
          </a:p>
        </p:txBody>
      </p:sp>
      <p:sp>
        <p:nvSpPr>
          <p:cNvPr id="22" name="Shape 20"/>
          <p:cNvSpPr/>
          <p:nvPr/>
        </p:nvSpPr>
        <p:spPr>
          <a:xfrm>
            <a:off x="5056632" y="1874520"/>
            <a:ext cx="3831336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48072" y="1920240"/>
            <a:ext cx="36484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2000" b="1">
                <a:solidFill>
                  <a:srgbClr val="00A591"/>
                </a:solidFill>
                <a:latin typeface="Arial"/>
              </a:rPr>
              <a:t>0.20%</a:t>
            </a:r>
            <a:endParaRPr lang="en-US" dirty="0"/>
          </a:p>
          <a:p>
            <a:pPr algn="l"/>
            <a:r>
              <a:rPr sz="800" b="1">
                <a:solidFill>
                  <a:srgbClr val="333333"/>
                </a:solidFill>
                <a:latin typeface="Arial"/>
              </a:rPr>
              <a:t>사람 수정 라인 비율  ·  리뷰 대상 87.3% 축소</a:t>
            </a:r>
          </a:p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생성 1,960줄 중 4줄 · AI 리뷰어 1차 기준 하한값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2788920"/>
            <a:ext cx="3831336" cy="214884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56632" y="2907792"/>
            <a:ext cx="3831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3172968"/>
            <a:ext cx="355701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333333"/>
                </a:solidFill>
                <a:latin typeface="Arial"/>
              </a:rPr>
              <a:t>“규칙 기반 변환에 LLM을 쓰지 않아 호출 46% 절감,</a:t>
            </a:r>
            <a:endParaRPr lang="en-US" sz="950" dirty="0"/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정적 검증 통과 코드의 실행 일치율 33%를</a:t>
            </a:r>
          </a:p>
          <a:p>
            <a:pPr algn="l"/>
            <a:r>
              <a:rPr sz="1050" b="1">
                <a:solidFill>
                  <a:srgbClr val="333333"/>
                </a:solidFill>
                <a:latin typeface="Arial"/>
              </a:rPr>
              <a:t>직접 측정해 100%로 개선”</a:t>
            </a:r>
          </a:p>
          <a:p>
            <a:pPr algn="l"/>
            <a:r>
              <a:rPr sz="4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00" b="0">
                <a:solidFill>
                  <a:srgbClr val="00A591"/>
                </a:solidFill>
                <a:latin typeface="Arial"/>
              </a:rPr>
              <a:t>전환 스코어카드 80.9 / 100  ·  측정 범위 확대로 88.2에서 하향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4617720" cy="4270248"/>
          </a:xfrm>
          <a:prstGeom prst="rect">
            <a:avLst/>
          </a:prstGeom>
          <a:solidFill>
            <a:srgbClr val="F5F5F5"/>
          </a:solidFill>
          <a:ln w="12700">
            <a:solidFill>
              <a:srgbClr val="999999"/>
            </a:solidFill>
            <a:prstDash val="sysDash"/>
          </a:ln>
        </p:spPr>
      </p:sp>
      <p:sp>
        <p:nvSpPr>
          <p:cNvPr id="11" name="Text 9"/>
          <p:cNvSpPr/>
          <p:nvPr/>
        </p:nvSpPr>
        <p:spPr>
          <a:xfrm>
            <a:off x="5056632" y="667512"/>
            <a:ext cx="38313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아키텍처 고려 사항 </a:t>
            </a:r>
            <a:br>
              <a:rPr lang="en-US" altLang="ko-KR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</a:br>
            <a:r>
              <a:rPr lang="ko-KR" alt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구성에 대한 핵심 결정 사항을 중심으로 설명하세요 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56632" y="1005840"/>
            <a:ext cx="3831336" cy="1249680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56632" y="1005840"/>
            <a:ext cx="54864" cy="124968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84648" y="1097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495544" y="109728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LangGraph StateGraph + 계획 파일 고정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84648" y="139903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ReAct 자율 탐색은 1,416회 반복에서 화면마다 경로가 갈림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계획을 파일로 확정 → 이후 단계는 지목된 대상만 호출. Send() 병렬 분배 병렬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계획이 도구 호출을 지휘 — 재현·리뷰·재실행 가능</a:t>
            </a:r>
          </a:p>
        </p:txBody>
      </p:sp>
      <p:sp>
        <p:nvSpPr>
          <p:cNvPr id="18" name="Shape 16"/>
          <p:cNvSpPr/>
          <p:nvPr/>
        </p:nvSpPr>
        <p:spPr>
          <a:xfrm>
            <a:off x="5056632" y="2346960"/>
            <a:ext cx="3831336" cy="1249680"/>
          </a:xfrm>
          <a:prstGeom prst="rect">
            <a:avLst/>
          </a:prstGeom>
          <a:solidFill>
            <a:srgbClr val="F0FDFB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56632" y="2346960"/>
            <a:ext cx="54864" cy="1249680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2438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495544" y="243840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MCP (Model Context Protocol)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84648" y="274015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도구 동적 선택은 '자율 탐색 배제' 원칙과 충돌 → 표면 분리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조회 4종만 노출, 변환 실행 미노출. 실 클라이언트 stdio 연결 검증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표준 프로토콜을 열되 승인 게이트는 우회 불가</a:t>
            </a:r>
          </a:p>
        </p:txBody>
      </p:sp>
      <p:sp>
        <p:nvSpPr>
          <p:cNvPr id="24" name="Shape 22"/>
          <p:cNvSpPr/>
          <p:nvPr/>
        </p:nvSpPr>
        <p:spPr>
          <a:xfrm>
            <a:off x="5056632" y="3688080"/>
            <a:ext cx="3831336" cy="124968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56632" y="3688080"/>
            <a:ext cx="54864" cy="1249680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84648" y="3779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5544" y="3779520"/>
            <a:ext cx="3319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sz="900" b="1">
                <a:solidFill>
                  <a:srgbClr val="333333"/>
                </a:solidFill>
                <a:latin typeface="Arial"/>
              </a:rPr>
              <a:t>Tree-of-Thoughts + Validator-driven Self-Correction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84648" y="4081272"/>
            <a:ext cx="3630168" cy="783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00" b="1">
                <a:solidFill>
                  <a:srgbClr val="00A591"/>
                </a:solidFill>
                <a:latin typeface="Arial"/>
              </a:rPr>
              <a:t>선택 이유  </a:t>
            </a:r>
            <a:r>
              <a:rPr sz="800" b="0">
                <a:solidFill>
                  <a:srgbClr val="666666"/>
                </a:solidFill>
                <a:latin typeface="Arial"/>
              </a:rPr>
              <a:t>통상 ToT는 모델이 자기 가지를 자평 → 규칙 기반 검증기로 대체</a:t>
            </a:r>
            <a:endParaRPr lang="en-US" sz="850" dirty="0"/>
          </a:p>
          <a:p>
            <a:pPr algn="l"/>
            <a:r>
              <a:rPr sz="800" b="1">
                <a:solidFill>
                  <a:srgbClr val="00A591"/>
                </a:solidFill>
                <a:latin typeface="Arial"/>
              </a:rPr>
              <a:t>핵심 활용  </a:t>
            </a:r>
            <a:r>
              <a:rPr sz="800" b="0">
                <a:solidFill>
                  <a:srgbClr val="666666"/>
                </a:solidFill>
                <a:latin typeface="Arial"/>
              </a:rPr>
              <a:t>후보 병렬 생성 → 잔여 BLOCKER 수로 채점 (MatchFixAgent/ACToR)</a:t>
            </a:r>
          </a:p>
          <a:p>
            <a:pPr algn="l"/>
            <a:r>
              <a:rPr sz="800" b="1">
                <a:solidFill>
                  <a:srgbClr val="1F3564"/>
                </a:solidFill>
                <a:latin typeface="Arial"/>
              </a:rPr>
              <a:t>강점  </a:t>
            </a:r>
            <a:r>
              <a:rPr sz="800" b="1">
                <a:solidFill>
                  <a:srgbClr val="1F3564"/>
                </a:solidFill>
                <a:latin typeface="Arial"/>
              </a:rPr>
              <a:t>채점자가 LLM이 아니라 규칙 기반 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000" y="720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AS-IS  ·  화면 1개 = 구성 파일 5종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00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.BIZUNIT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772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P BizUnit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1544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F BizUnit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316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D BizUnit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908800" y="870000"/>
            <a:ext cx="841200" cy="250000"/>
          </a:xfrm>
          <a:prstGeom prst="roundRect">
            <a:avLst/>
          </a:prstGeom>
          <a:solidFill>
            <a:srgbClr val="E8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333333"/>
                </a:solidFill>
                <a:latin typeface="Arial"/>
              </a:rPr>
              <a:t>XSQL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2529280" y="112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00000" y="1210000"/>
            <a:ext cx="4350000" cy="620000"/>
          </a:xfrm>
          <a:prstGeom prst="roundRect">
            <a:avLst/>
          </a:prstGeom>
          <a:solidFill>
            <a:srgbClr val="1F3564"/>
          </a:solidFill>
          <a:ln w="19050">
            <a:solidFill>
              <a:srgbClr val="00A5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950" b="1">
                <a:solidFill>
                  <a:srgbClr val="FFFFFF"/>
                </a:solidFill>
                <a:latin typeface="Arial"/>
              </a:rPr>
              <a:t>① Planner  —  무엇을 어떤 도구로 처리할지 먼저 판단한다</a:t>
            </a:r>
          </a:p>
          <a:p>
            <a:pPr algn="ctr"/>
            <a:r>
              <a:rPr sz="750" b="0">
                <a:solidFill>
                  <a:srgbClr val="C9D6E8"/>
                </a:solidFill>
                <a:latin typeface="Arial"/>
              </a:rPr>
              <a:t>메서드 단위로 규칙 / LLM을 가르고, 호출 대상·순서·예산을 확정</a:t>
            </a:r>
          </a:p>
          <a:p>
            <a:pPr algn="ctr"/>
            <a:r>
              <a:rPr sz="700" b="0">
                <a:solidFill>
                  <a:srgbClr val="00A591"/>
                </a:solidFill>
                <a:latin typeface="Arial"/>
              </a:rPr>
              <a:t>정적 분석 · LLM 미사용 · conversion-plan.json 으로 고정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898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wn Arrow 38"/>
          <p:cNvSpPr/>
          <p:nvPr/>
        </p:nvSpPr>
        <p:spPr>
          <a:xfrm>
            <a:off x="1985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30730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4160530" y="1838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0000" y="1844000"/>
            <a:ext cx="4350000" cy="1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0">
                <a:solidFill>
                  <a:srgbClr val="666666"/>
                </a:solidFill>
                <a:latin typeface="Arial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00000" y="1920000"/>
            <a:ext cx="4350000" cy="1191000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C5C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0000" y="1975000"/>
            <a:ext cx="4150000" cy="16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1F3564"/>
                </a:solidFill>
                <a:latin typeface="Arial"/>
              </a:rPr>
              <a:t>Planner가 지목한 대상만 호출  —  모델이 도구를 스스로 고르지 않는다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0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규칙 변환기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iBatis → MyBatis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559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② 코드 뼈대·DTO 생성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선언부 → 클래스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598000" y="2125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③ LLM Gateway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업무 로직 포팅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37000" y="2125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④ 정적 검증기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변환기와 분리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20000" y="2601000"/>
            <a:ext cx="993000" cy="43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⑤ ToT 수리기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후보 N개 → 채점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59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⑥ 동작 일치 L3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javac/java 실행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98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⑦ 교차 분석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엔드포인트 충돌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37000" y="2601000"/>
            <a:ext cx="993000" cy="430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000" rIns="28000" tIns="14000" bIns="1400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⑧ Maven 빌드</a:t>
            </a:r>
          </a:p>
          <a:p>
            <a:pPr algn="ctr"/>
            <a:r>
              <a:rPr sz="650" b="0">
                <a:solidFill>
                  <a:srgbClr val="DDE6EE"/>
                </a:solidFill>
                <a:latin typeface="Arial"/>
              </a:rPr>
              <a:t>mvn compile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0000" y="3145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>
                <a:solidFill>
                  <a:srgbClr val="666666"/>
                </a:solidFill>
                <a:latin typeface="Arial"/>
              </a:rPr>
              <a:t>⑤ 검증 기반 자가 교정은 ④ 검증 실패 시에만 ③으로 되돌린다 (회차 상한 2)</a:t>
            </a:r>
          </a:p>
        </p:txBody>
      </p:sp>
      <p:sp>
        <p:nvSpPr>
          <p:cNvPr id="54" name="Down Arrow 53"/>
          <p:cNvSpPr/>
          <p:nvPr/>
        </p:nvSpPr>
        <p:spPr>
          <a:xfrm>
            <a:off x="2529280" y="330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00000" y="3391000"/>
            <a:ext cx="4350000" cy="290000"/>
          </a:xfrm>
          <a:prstGeom prst="roundRect">
            <a:avLst/>
          </a:prstGeom>
          <a:solidFill>
            <a:srgbClr val="B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사람 승인 게이트  —  승인 전에는 산출물·DB에 아무것도 쓰지 않는다</a:t>
            </a:r>
          </a:p>
        </p:txBody>
      </p:sp>
      <p:sp>
        <p:nvSpPr>
          <p:cNvPr id="56" name="Down Arrow 55"/>
          <p:cNvSpPr/>
          <p:nvPr/>
        </p:nvSpPr>
        <p:spPr>
          <a:xfrm>
            <a:off x="2529280" y="3689000"/>
            <a:ext cx="91440" cy="74000"/>
          </a:xfrm>
          <a:prstGeom prst="downArrow">
            <a:avLst/>
          </a:prstGeom>
          <a:solidFill>
            <a:srgbClr val="C5C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000" y="3771000"/>
            <a:ext cx="4350000" cy="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>
                <a:solidFill>
                  <a:srgbClr val="666666"/>
                </a:solidFill>
                <a:latin typeface="Arial"/>
              </a:rPr>
              <a:t>TO-BE  ·  Spring / MyBatis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000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Api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2772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544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0316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Dto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08800" y="3921000"/>
            <a:ext cx="841200" cy="250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700" b="0">
                <a:solidFill>
                  <a:srgbClr val="FFFFFF"/>
                </a:solidFill>
                <a:latin typeface="Arial"/>
              </a:rPr>
              <a:t>Mapper.xml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00000" y="4233000"/>
            <a:ext cx="92000" cy="92000"/>
          </a:xfrm>
          <a:prstGeom prst="roundRect">
            <a:avLst/>
          </a:prstGeom>
          <a:solidFill>
            <a:srgbClr val="00A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6000" y="4231000"/>
            <a:ext cx="9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규칙 기반 (LLM 0회)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520000" y="4233000"/>
            <a:ext cx="92000" cy="92000"/>
          </a:xfrm>
          <a:prstGeom prst="roundRect">
            <a:avLst/>
          </a:prstGeom>
          <a:solidFill>
            <a:srgbClr val="1F3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646000" y="4231000"/>
            <a:ext cx="70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66666"/>
                </a:solidFill>
                <a:latin typeface="Arial"/>
              </a:rPr>
              <a:t>LLM 호출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00000" y="4231000"/>
            <a:ext cx="2250000" cy="13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666666"/>
                </a:solidFill>
                <a:latin typeface="Arial"/>
              </a:rPr>
              <a:t>MCP 조회 서버(읽기 전용 4종) — 변환 실행 미노출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137160"/>
            <a:ext cx="54864" cy="402336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4904" y="137160"/>
            <a:ext cx="6766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과제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solidFill>
            <a:srgbClr val="F5F5F5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562088" y="19202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권장 4분</a:t>
            </a:r>
            <a:r>
              <a:rPr lang="ko-KR" alt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이내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" y="576072"/>
            <a:ext cx="863193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5029200"/>
            <a:ext cx="8229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03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256032" y="667512"/>
            <a:ext cx="8631936" cy="987552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" y="758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기술 난제 (Hurdle)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0624" y="1033272"/>
            <a:ext cx="8302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950" b="1">
                <a:solidFill>
                  <a:srgbClr val="333333"/>
                </a:solidFill>
                <a:latin typeface="Arial"/>
              </a:rPr>
              <a:t>정적 검증 100% 통과 코드가 실행에서는 동작 불일치 — 검증 수단 자체가 부재</a:t>
            </a:r>
            <a:endParaRPr lang="en-US" sz="1000" dirty="0"/>
          </a:p>
          <a:p>
            <a:pPr algn="l"/>
            <a:r>
              <a:rPr sz="900" b="0">
                <a:solidFill>
                  <a:srgbClr val="666666"/>
                </a:solidFill>
                <a:latin typeface="Arial"/>
              </a:rPr>
              <a:t>AlphaTrans(FSE 2025) 동일 간극 보고 : 문법 96.40%  vs  동작 일치 25.14%</a:t>
            </a:r>
          </a:p>
        </p:txBody>
      </p:sp>
      <p:sp>
        <p:nvSpPr>
          <p:cNvPr id="12" name="Shape 10"/>
          <p:cNvSpPr/>
          <p:nvPr/>
        </p:nvSpPr>
        <p:spPr>
          <a:xfrm>
            <a:off x="256032" y="1764792"/>
            <a:ext cx="4620768" cy="3172968"/>
          </a:xfrm>
          <a:prstGeom prst="rect">
            <a:avLst/>
          </a:prstGeom>
          <a:solidFill>
            <a:srgbClr val="F8F9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" y="1764792"/>
            <a:ext cx="54864" cy="3172968"/>
          </a:xfrm>
          <a:prstGeom prst="rect">
            <a:avLst/>
          </a:prstGeom>
          <a:solidFill>
            <a:srgbClr val="1A365D"/>
          </a:solidFill>
          <a:ln w="12700">
            <a:solidFill>
              <a:srgbClr val="1A365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" y="1856232"/>
            <a:ext cx="40416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엔지니어링 접근 방법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167128"/>
            <a:ext cx="4023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00A591"/>
                </a:solidFill>
                <a:latin typeface="Arial"/>
              </a:rPr>
              <a:t>전제 재검토</a:t>
            </a:r>
            <a:endParaRPr lang="en-US" sz="900" dirty="0"/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“실행 수단이 없다”가 오판 — 필요한 건 앱 기동이 아닌 F 메서드 호출 환경.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AS-IS 프레임워크 API는 10개 남짓의 닫힌 집합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① 최소 실행 검증 실행 환경 (L3)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데이터 계층을 양쪽 동일 고정 테스트 데이터로 고정 → 차이는 포팅 차이만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0행 / 1행 / 3행으로 분기 경로 전수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② 호출 대상 계약 JSON 주입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호출 관계도의 실제 메서드명·반환 타입·결과 건수를 프롬프트에 명시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③ ToT 수리 — 채점자 분리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후보 병렬 생성, 규칙 기반 검증기가 채점 (모델 자기평가 미사용)</a:t>
            </a:r>
          </a:p>
          <a:p>
            <a:pPr algn="l"/>
            <a:r>
              <a:rPr sz="300" b="0">
                <a:solidFill>
                  <a:srgbClr val="666666"/>
                </a:solidFill>
                <a:latin typeface="Arial"/>
              </a:rPr>
              <a:t/>
            </a:r>
          </a:p>
          <a:p>
            <a:pPr algn="l"/>
            <a:r>
              <a:rPr sz="850" b="1">
                <a:solidFill>
                  <a:srgbClr val="333333"/>
                </a:solidFill>
                <a:latin typeface="Arial"/>
              </a:rPr>
              <a:t>④ 자동화하지 않을 것을 확정</a:t>
            </a:r>
          </a:p>
          <a:p>
            <a:pPr algn="l"/>
            <a:r>
              <a:rPr sz="800" b="0">
                <a:solidFill>
                  <a:srgbClr val="666666"/>
                </a:solidFill>
                <a:latin typeface="Arial"/>
              </a:rPr>
              <a:t>원본 결함은 보존·표시, 미확인 패턴에 규칙 생성 금지</a:t>
            </a:r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42F27494-48CC-B67F-5091-7461D87EE359}"/>
              </a:ext>
            </a:extLst>
          </p:cNvPr>
          <p:cNvGrpSpPr/>
          <p:nvPr/>
        </p:nvGrpSpPr>
        <p:grpSpPr>
          <a:xfrm>
            <a:off x="5058229" y="1764792"/>
            <a:ext cx="3829739" cy="3172968"/>
            <a:chOff x="4645152" y="1764792"/>
            <a:chExt cx="4242816" cy="3172968"/>
          </a:xfrm>
        </p:grpSpPr>
        <p:sp>
          <p:nvSpPr>
            <p:cNvPr id="16" name="Shape 14"/>
            <p:cNvSpPr/>
            <p:nvPr/>
          </p:nvSpPr>
          <p:spPr>
            <a:xfrm>
              <a:off x="4645152" y="1764792"/>
              <a:ext cx="4242816" cy="3172968"/>
            </a:xfrm>
            <a:prstGeom prst="rect">
              <a:avLst/>
            </a:prstGeom>
            <a:solidFill>
              <a:srgbClr val="F0FDFB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17" name="Shape 15"/>
            <p:cNvSpPr/>
            <p:nvPr/>
          </p:nvSpPr>
          <p:spPr>
            <a:xfrm>
              <a:off x="4645152" y="1764792"/>
              <a:ext cx="54864" cy="3172968"/>
            </a:xfrm>
            <a:prstGeom prst="rect">
              <a:avLst/>
            </a:prstGeom>
            <a:solidFill>
              <a:srgbClr val="4ECDC4"/>
            </a:solidFill>
            <a:ln w="12700">
              <a:solidFill>
                <a:srgbClr val="4ECDC4"/>
              </a:solidFill>
              <a:prstDash val="solid"/>
            </a:ln>
          </p:spPr>
        </p:sp>
        <p:sp>
          <p:nvSpPr>
            <p:cNvPr id="18" name="Text 16"/>
            <p:cNvSpPr/>
            <p:nvPr/>
          </p:nvSpPr>
          <p:spPr>
            <a:xfrm>
              <a:off x="4764024" y="1856232"/>
              <a:ext cx="4041648" cy="2468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dirty="0">
                  <a:solidFill>
                    <a:srgbClr val="3BB8B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결과 및 성과 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(</a:t>
              </a:r>
              <a:r>
                <a:rPr lang="en-US" sz="1000" b="1" dirty="0" err="1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수치로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제시</a:t>
              </a:r>
              <a:r>
                <a:rPr lang="en-US" sz="1000" b="1" dirty="0">
                  <a:solidFill>
                    <a:schemeClr val="bg1">
                      <a:lumMod val="50000"/>
                    </a:schemeClr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)</a:t>
              </a:r>
              <a:endParaRPr lang="en-US" sz="10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9" name="Shape 17"/>
            <p:cNvSpPr/>
            <p:nvPr/>
          </p:nvSpPr>
          <p:spPr>
            <a:xfrm>
              <a:off x="4773168" y="2194560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0" name="Text 18"/>
            <p:cNvSpPr/>
            <p:nvPr/>
          </p:nvSpPr>
          <p:spPr>
            <a:xfrm>
              <a:off x="4828032" y="2194560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33%→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100%</a:t>
              </a:r>
            </a:p>
          </p:txBody>
        </p:sp>
        <p:sp>
          <p:nvSpPr>
            <p:cNvPr id="21" name="Shape 19"/>
            <p:cNvSpPr/>
            <p:nvPr/>
          </p:nvSpPr>
          <p:spPr>
            <a:xfrm>
              <a:off x="5696712" y="2373600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2" name="Text 20"/>
            <p:cNvSpPr/>
            <p:nvPr/>
          </p:nvSpPr>
          <p:spPr>
            <a:xfrm>
              <a:off x="5797296" y="2249424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업무 로직(F) 실행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27건 중 9건 일치 → 원인(레코드셋 추출 누락) 수정 후 48/48</a:t>
              </a:r>
            </a:p>
          </p:txBody>
        </p:sp>
        <p:sp>
          <p:nvSpPr>
            <p:cNvPr id="23" name="Shape 21"/>
            <p:cNvSpPr/>
            <p:nvPr/>
          </p:nvSpPr>
          <p:spPr>
            <a:xfrm>
              <a:off x="4773168" y="3090672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4" name="Text 22"/>
            <p:cNvSpPr/>
            <p:nvPr/>
          </p:nvSpPr>
          <p:spPr>
            <a:xfrm>
              <a:off x="4828032" y="3090672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0/9→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9/9</a:t>
              </a:r>
            </a:p>
          </p:txBody>
        </p:sp>
        <p:sp>
          <p:nvSpPr>
            <p:cNvPr id="25" name="Shape 23"/>
            <p:cNvSpPr/>
            <p:nvPr/>
          </p:nvSpPr>
          <p:spPr>
            <a:xfrm>
              <a:off x="5696712" y="3269712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6" name="Text 24"/>
            <p:cNvSpPr/>
            <p:nvPr/>
          </p:nvSpPr>
          <p:spPr>
            <a:xfrm>
              <a:off x="5797296" y="3145536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 요청(Api) 페이로드 일치율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“P는 순수 위임” = 표본 1건 가정. 30화면 전수 확인 → 권한 게이트 누락 발견</a:t>
              </a:r>
            </a:p>
          </p:txBody>
        </p:sp>
        <p:sp>
          <p:nvSpPr>
            <p:cNvPr id="27" name="Shape 25"/>
            <p:cNvSpPr/>
            <p:nvPr/>
          </p:nvSpPr>
          <p:spPr>
            <a:xfrm>
              <a:off x="4773168" y="3986784"/>
              <a:ext cx="4023360" cy="81381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28" name="Text 26"/>
            <p:cNvSpPr/>
            <p:nvPr/>
          </p:nvSpPr>
          <p:spPr>
            <a:xfrm>
              <a:off x="4828032" y="3986784"/>
              <a:ext cx="822960" cy="81381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1600" b="1">
                  <a:solidFill>
                    <a:srgbClr val="1F3564"/>
                  </a:solidFill>
                  <a:latin typeface="Arial"/>
                </a:rPr>
                <a:t>5→</a:t>
              </a:r>
              <a:endParaRPr lang="en-US" sz="1800" dirty="0"/>
            </a:p>
            <a:p>
              <a:pPr algn="l"/>
              <a:r>
                <a:rPr sz="1600" b="1">
                  <a:solidFill>
                    <a:srgbClr val="00A591"/>
                  </a:solidFill>
                  <a:latin typeface="Arial"/>
                </a:rPr>
                <a:t>1건</a:t>
              </a:r>
            </a:p>
          </p:txBody>
        </p:sp>
        <p:sp>
          <p:nvSpPr>
            <p:cNvPr id="29" name="Shape 27"/>
            <p:cNvSpPr/>
            <p:nvPr/>
          </p:nvSpPr>
          <p:spPr>
            <a:xfrm>
              <a:off x="5696712" y="4165824"/>
              <a:ext cx="0" cy="455737"/>
            </a:xfrm>
            <a:prstGeom prst="line">
              <a:avLst/>
            </a:prstGeom>
            <a:noFill/>
            <a:ln w="12700">
              <a:solidFill>
                <a:srgbClr val="E5E5E5"/>
              </a:solidFill>
              <a:prstDash val="solid"/>
            </a:ln>
          </p:spPr>
        </p:sp>
        <p:sp>
          <p:nvSpPr>
            <p:cNvPr id="30" name="Text 28"/>
            <p:cNvSpPr/>
            <p:nvPr/>
          </p:nvSpPr>
          <p:spPr>
            <a:xfrm>
              <a:off x="5797296" y="4041648"/>
              <a:ext cx="2907792" cy="70408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sz="900" b="1">
                  <a:solidFill>
                    <a:srgbClr val="333333"/>
                  </a:solidFill>
                  <a:latin typeface="Arial"/>
                </a:rPr>
                <a:t>화면당 LLM 포팅 호출</a:t>
              </a:r>
              <a:endParaRPr lang="en-US" sz="850" dirty="0"/>
            </a:p>
            <a:p>
              <a:pPr algn="l"/>
              <a:r>
                <a:rPr sz="700" b="0">
                  <a:solidFill>
                    <a:srgbClr val="666666"/>
                  </a:solidFill>
                  <a:latin typeface="Arial"/>
                </a:rPr>
                <a:t>성공 불가 대상 반복 호출 80% 제거 · 규칙 기반 회피 46% 포함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928</Words>
  <Application>Microsoft Macintosh PowerPoint</Application>
  <PresentationFormat>화면 슬라이드 쇼(16:9)</PresentationFormat>
  <Paragraphs>102</Paragraphs>
  <Slides>4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Master Project 발표 자료 템플릿 v1.0</dc:title>
  <dc:subject>PptxGenJS Presentation</dc:subject>
  <dc:creator>PptxGenJS</dc:creator>
  <cp:lastModifiedBy>07457</cp:lastModifiedBy>
  <cp:revision>4</cp:revision>
  <dcterms:created xsi:type="dcterms:W3CDTF">2026-03-16T07:29:48Z</dcterms:created>
  <dcterms:modified xsi:type="dcterms:W3CDTF">2026-03-16T08:12:05Z</dcterms:modified>
</cp:coreProperties>
</file>