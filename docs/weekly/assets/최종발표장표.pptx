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endParaRPr sz="900" b="0">
              <a:solidFill>
                <a:srgbClr val="666666"/>
              </a:solidFill>
              <a:latin typeface="Arial"/>
            </a:endParaRP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endParaRPr sz="900" b="0">
              <a:solidFill>
                <a:srgbClr val="666666"/>
              </a:solidFill>
              <a:latin typeface="Arial"/>
            </a:endParaRP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endParaRPr lang="en-US" sz="900" dirty="0"/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 dirty="0">
                <a:solidFill>
                  <a:srgbClr val="333333"/>
                </a:solidFill>
                <a:latin typeface="Arial"/>
              </a:rPr>
              <a:t>“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규칙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기반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변환에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LLM을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쓰지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않아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호출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46%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절감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,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algn="l"/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정적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검증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통과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코드의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실행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일치율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33%를</a:t>
            </a:r>
          </a:p>
          <a:p>
            <a:pPr algn="l"/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직접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측정해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100%로 </a:t>
            </a:r>
            <a:r>
              <a:rPr sz="10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개선</a:t>
            </a:r>
            <a:r>
              <a:rPr sz="10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”</a:t>
            </a:r>
          </a:p>
          <a:p>
            <a:pPr algn="l"/>
            <a:endParaRPr sz="1050" b="1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sz="800" b="0" dirty="0" err="1">
                <a:solidFill>
                  <a:srgbClr val="00A591"/>
                </a:solidFill>
                <a:latin typeface="Arial"/>
              </a:rPr>
              <a:t>전환</a:t>
            </a:r>
            <a:r>
              <a:rPr sz="800" b="0" dirty="0">
                <a:solidFill>
                  <a:srgbClr val="00A591"/>
                </a:solidFill>
                <a:latin typeface="Arial"/>
              </a:rPr>
              <a:t> </a:t>
            </a:r>
            <a:r>
              <a:rPr sz="800" b="0" dirty="0" err="1">
                <a:solidFill>
                  <a:srgbClr val="00A591"/>
                </a:solidFill>
                <a:latin typeface="Arial"/>
              </a:rPr>
              <a:t>스코어카드</a:t>
            </a:r>
            <a:r>
              <a:rPr sz="800" b="0" dirty="0">
                <a:solidFill>
                  <a:srgbClr val="00A591"/>
                </a:solidFill>
                <a:latin typeface="Arial"/>
              </a:rPr>
              <a:t> 80.9 / 100  ·  </a:t>
            </a:r>
            <a:r>
              <a:rPr sz="800" b="0" dirty="0" err="1">
                <a:solidFill>
                  <a:srgbClr val="00A591"/>
                </a:solidFill>
                <a:latin typeface="Arial"/>
              </a:rPr>
              <a:t>측정</a:t>
            </a:r>
            <a:r>
              <a:rPr sz="800" b="0" dirty="0">
                <a:solidFill>
                  <a:srgbClr val="00A591"/>
                </a:solidFill>
                <a:latin typeface="Arial"/>
              </a:rPr>
              <a:t> </a:t>
            </a:r>
            <a:r>
              <a:rPr sz="800" b="0" dirty="0" err="1">
                <a:solidFill>
                  <a:srgbClr val="00A591"/>
                </a:solidFill>
                <a:latin typeface="Arial"/>
              </a:rPr>
              <a:t>범위</a:t>
            </a:r>
            <a:r>
              <a:rPr sz="800" b="0" dirty="0">
                <a:solidFill>
                  <a:srgbClr val="00A591"/>
                </a:solidFill>
                <a:latin typeface="Arial"/>
              </a:rPr>
              <a:t> </a:t>
            </a:r>
            <a:r>
              <a:rPr sz="800" b="0" dirty="0" err="1">
                <a:solidFill>
                  <a:srgbClr val="00A591"/>
                </a:solidFill>
                <a:latin typeface="Arial"/>
              </a:rPr>
              <a:t>확대로</a:t>
            </a:r>
            <a:r>
              <a:rPr sz="800" b="0" dirty="0">
                <a:solidFill>
                  <a:srgbClr val="00A591"/>
                </a:solidFill>
                <a:latin typeface="Arial"/>
              </a:rPr>
              <a:t> 88.2에서 </a:t>
            </a:r>
            <a:r>
              <a:rPr sz="800" b="0" dirty="0" err="1">
                <a:solidFill>
                  <a:srgbClr val="00A591"/>
                </a:solidFill>
                <a:latin typeface="Arial"/>
              </a:rPr>
              <a:t>하향</a:t>
            </a:r>
            <a:endParaRPr sz="800" b="0" dirty="0">
              <a:solidFill>
                <a:srgbClr val="00A59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병렬 분배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AS-IS   P · F · D BizUnit + XSQL   (구성 파일 5종)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529280" y="87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0000" y="944000"/>
            <a:ext cx="4350000" cy="370000"/>
          </a:xfrm>
          <a:prstGeom prst="roundRect">
            <a:avLst/>
          </a:prstGeom>
          <a:solidFill>
            <a:srgbClr val="1F3564"/>
          </a:solidFill>
          <a:ln w="15875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000" tIns="14000" rIns="28000" bIns="1400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 PLAN   계획 수립 — 무엇을 어떤 도구로 처리할지 먼저 확정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정적 분석 · LLM 미사용 · 파일로 고정해 이후 단계가 이 계획만 따른다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2529280" y="132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00000" y="1388000"/>
            <a:ext cx="4350000" cy="1020000"/>
          </a:xfrm>
          <a:prstGeom prst="roundRect">
            <a:avLst/>
          </a:prstGeom>
          <a:solidFill>
            <a:srgbClr val="FAFBFC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0000" y="1436000"/>
            <a:ext cx="4150000" cy="1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F3564"/>
                </a:solidFill>
                <a:latin typeface="Arial"/>
              </a:rPr>
              <a:t>추론 순환   REASON → ACT → OBSERVE → REFLECT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2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000" tIns="14000" rIns="28000" bIns="140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REASON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계획이 지목한 대상 판단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9000" y="1613000"/>
            <a:ext cx="985000" cy="49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000" tIns="14000" rIns="28000" bIns="140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도구 호출 · LLM 포팅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000" tIns="14000" rIns="28000" bIns="140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규칙 기반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23000" y="1613000"/>
            <a:ext cx="985000" cy="4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000" tIns="14000" rIns="28000" bIns="140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REFLECT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교정 판단 · 회차 상한 2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533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ight Arrow 40"/>
          <p:cNvSpPr/>
          <p:nvPr/>
        </p:nvSpPr>
        <p:spPr>
          <a:xfrm>
            <a:off x="2560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ight Arrow 41"/>
          <p:cNvSpPr/>
          <p:nvPr/>
        </p:nvSpPr>
        <p:spPr>
          <a:xfrm>
            <a:off x="3587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15500" y="2103000"/>
            <a:ext cx="26000" cy="6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061500" y="2169000"/>
            <a:ext cx="2054000" cy="2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Up Arrow 44"/>
          <p:cNvSpPr/>
          <p:nvPr/>
        </p:nvSpPr>
        <p:spPr>
          <a:xfrm>
            <a:off x="2015500" y="2113000"/>
            <a:ext cx="92000" cy="56000"/>
          </a:xfrm>
          <a:prstGeom prst="upArrow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2000" y="2199000"/>
            <a:ext cx="4066000" cy="1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  <a:latin typeface="Arial"/>
              </a:rPr>
              <a:t>검증 실패 시에만 되돌아간다 — 통과하거나 예산을 소진하면 순환을 빠져나온다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2424000"/>
            <a:ext cx="4350000" cy="1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00A591"/>
                </a:solidFill>
                <a:latin typeface="Arial"/>
              </a:rPr>
              <a:t>관찰자가 모델이 아니라 규칙 기반 검증기다   —   자기 평가를 쓰지 않는다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529280" y="2594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400000" y="2662000"/>
            <a:ext cx="4350000" cy="788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92000" y="2708000"/>
            <a:ext cx="4166000" cy="1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ACT 가 호출하는 도구 — 계획이 지목한 대상만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7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94000" y="2846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41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0000" y="3134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교정기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47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94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41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빌드 검증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2529280" y="345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400000" y="3524000"/>
            <a:ext cx="4350000" cy="25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사람 승인 게이트 — 승인 전에는 산출물·DB에 아무것도 쓰지 않는다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529280" y="378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00000" y="3848000"/>
            <a:ext cx="4350000" cy="1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TO-BE   Api · Service · Store · Dto · Mapper.xml   (Spring / MyBatis)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042000"/>
            <a:ext cx="88000" cy="88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16000" y="4040000"/>
            <a:ext cx="1052000" cy="1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80000" y="4042000"/>
            <a:ext cx="88000" cy="88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696000" y="4040000"/>
            <a:ext cx="1052000" cy="1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0000" y="4042000"/>
            <a:ext cx="88000" cy="88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876000" y="4040000"/>
            <a:ext cx="1052000" cy="1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분기 · 승인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0000" y="4040000"/>
            <a:ext cx="43500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endParaRPr lang="en-US" sz="650" b="0" dirty="0">
              <a:solidFill>
                <a:srgbClr val="666666"/>
              </a:solidFill>
              <a:latin typeface="Arial"/>
            </a:endParaRPr>
          </a:p>
          <a:p>
            <a:pPr algn="r"/>
            <a:r>
              <a:rPr sz="650" b="0" dirty="0">
                <a:solidFill>
                  <a:srgbClr val="666666"/>
                </a:solidFill>
                <a:latin typeface="Arial"/>
              </a:rPr>
              <a:t>MCP </a:t>
            </a:r>
            <a:r>
              <a:rPr sz="650" b="0" dirty="0" err="1">
                <a:solidFill>
                  <a:srgbClr val="666666"/>
                </a:solidFill>
                <a:latin typeface="Arial"/>
              </a:rPr>
              <a:t>읽기</a:t>
            </a:r>
            <a:r>
              <a:rPr sz="65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650" b="0" dirty="0" err="1">
                <a:solidFill>
                  <a:srgbClr val="666666"/>
                </a:solidFill>
                <a:latin typeface="Arial"/>
              </a:rPr>
              <a:t>전용</a:t>
            </a:r>
            <a:r>
              <a:rPr sz="65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650" b="0" dirty="0" err="1">
                <a:solidFill>
                  <a:srgbClr val="666666"/>
                </a:solidFill>
                <a:latin typeface="Arial"/>
              </a:rPr>
              <a:t>조회</a:t>
            </a:r>
            <a:r>
              <a:rPr sz="650" b="0" dirty="0">
                <a:solidFill>
                  <a:srgbClr val="666666"/>
                </a:solidFill>
                <a:latin typeface="Arial"/>
              </a:rPr>
              <a:t> 4종 — </a:t>
            </a:r>
            <a:r>
              <a:rPr sz="650" b="0" dirty="0" err="1">
                <a:solidFill>
                  <a:srgbClr val="666666"/>
                </a:solidFill>
                <a:latin typeface="Arial"/>
              </a:rPr>
              <a:t>변환</a:t>
            </a:r>
            <a:r>
              <a:rPr sz="65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650" b="0" dirty="0" err="1">
                <a:solidFill>
                  <a:srgbClr val="666666"/>
                </a:solidFill>
                <a:latin typeface="Arial"/>
              </a:rPr>
              <a:t>실행은</a:t>
            </a:r>
            <a:r>
              <a:rPr sz="65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650" b="0" dirty="0" err="1">
                <a:solidFill>
                  <a:srgbClr val="666666"/>
                </a:solidFill>
                <a:latin typeface="Arial"/>
              </a:rPr>
              <a:t>노출하지</a:t>
            </a:r>
            <a:r>
              <a:rPr sz="65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650" b="0" dirty="0" err="1">
                <a:solidFill>
                  <a:srgbClr val="666666"/>
                </a:solidFill>
                <a:latin typeface="Arial"/>
              </a:rPr>
              <a:t>않는다</a:t>
            </a:r>
            <a:endParaRPr sz="650" b="0" dirty="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정적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검증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100%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통과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코드가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실행에서는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동작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불일치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—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검증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수단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자체가</a:t>
            </a:r>
            <a:r>
              <a:rPr sz="95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 </a:t>
            </a:r>
            <a:r>
              <a:rPr sz="950" b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부재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algn="l"/>
            <a:r>
              <a:rPr sz="900" b="0" dirty="0" err="1">
                <a:solidFill>
                  <a:srgbClr val="666666"/>
                </a:solidFill>
                <a:latin typeface="Arial"/>
              </a:rPr>
              <a:t>AlphaTrans</a:t>
            </a:r>
            <a:r>
              <a:rPr sz="900" b="0" dirty="0">
                <a:solidFill>
                  <a:srgbClr val="666666"/>
                </a:solidFill>
                <a:latin typeface="Arial"/>
              </a:rPr>
              <a:t>(FSE 2025) </a:t>
            </a:r>
            <a:r>
              <a:rPr sz="900" b="0" dirty="0" err="1">
                <a:solidFill>
                  <a:srgbClr val="666666"/>
                </a:solidFill>
                <a:latin typeface="Arial"/>
              </a:rPr>
              <a:t>동일</a:t>
            </a:r>
            <a:r>
              <a:rPr sz="90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66666"/>
                </a:solidFill>
                <a:latin typeface="Arial"/>
              </a:rPr>
              <a:t>간극</a:t>
            </a:r>
            <a:r>
              <a:rPr sz="90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66666"/>
                </a:solidFill>
                <a:latin typeface="Arial"/>
              </a:rPr>
              <a:t>보고</a:t>
            </a:r>
            <a:r>
              <a:rPr sz="900" b="0" dirty="0">
                <a:solidFill>
                  <a:srgbClr val="666666"/>
                </a:solidFill>
                <a:latin typeface="Arial"/>
              </a:rPr>
              <a:t> : </a:t>
            </a:r>
            <a:r>
              <a:rPr sz="900" b="0" dirty="0" err="1">
                <a:solidFill>
                  <a:srgbClr val="666666"/>
                </a:solidFill>
                <a:latin typeface="Arial"/>
              </a:rPr>
              <a:t>문법</a:t>
            </a:r>
            <a:r>
              <a:rPr sz="900" b="0" dirty="0">
                <a:solidFill>
                  <a:srgbClr val="666666"/>
                </a:solidFill>
                <a:latin typeface="Arial"/>
              </a:rPr>
              <a:t> 96.40%  vs  </a:t>
            </a:r>
            <a:r>
              <a:rPr sz="900" b="0" dirty="0" err="1">
                <a:solidFill>
                  <a:srgbClr val="666666"/>
                </a:solidFill>
                <a:latin typeface="Arial"/>
              </a:rPr>
              <a:t>동작</a:t>
            </a:r>
            <a:r>
              <a:rPr sz="900" b="0" dirty="0">
                <a:solidFill>
                  <a:srgbClr val="666666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66666"/>
                </a:solidFill>
                <a:latin typeface="Arial"/>
              </a:rPr>
              <a:t>일치</a:t>
            </a:r>
            <a:r>
              <a:rPr sz="900" b="0" dirty="0">
                <a:solidFill>
                  <a:srgbClr val="666666"/>
                </a:solidFill>
                <a:latin typeface="Arial"/>
              </a:rPr>
              <a:t>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“실행 수단이 없다”가 오판 — 앱 기동이 아니라 메서드 호출 환경이면 됐다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Harness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데이터 계층을 양쪽 동일 고정값으로 → 차이는 포팅 차이만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0행 / 1행 / 3행으로 분기 전수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실제 메서드명·반환 타입·결과 건수를 명시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교정 — 채점자 분리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후보 병렬 생성, 규칙 기반 검증기가 채점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BLOCKER 10건 중 9건만 교정, 나머지는 사람에게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판단 근거를 로그로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모델이 원본 버그 2건을 스스로 지적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⑤ 자동화하지 않을 것을 확정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  <a:p>
            <a:pPr algn="l"/>
            <a:endParaRPr sz="750" b="0">
              <a:solidFill>
                <a:srgbClr val="666666"/>
              </a:solidFill>
              <a:latin typeface="Arial"/>
            </a:endParaRPr>
          </a:p>
          <a:p>
            <a:pPr algn="l"/>
            <a:r>
              <a:rPr sz="850" b="1">
                <a:solidFill>
                  <a:srgbClr val="B4621A"/>
                </a:solidFill>
                <a:latin typeface="Arial"/>
              </a:rPr>
              <a:t>2차 적용 — 개발 표준 내재화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네이밍·계층 책임·예외 규약을 암묵지에서 규칙으로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전환 직후 LLM이 표준 기준으로 한 번 더 검토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이관이 아니라 운영 품질까지 보장하는 소스로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→ 원인(레코드셋 추출 누락) 수정 후 48/48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실행 가능한 3화면 기준 (2화면은 원본 컴파일 불가)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 → 30화면 전수 확인으로 반증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메시지 키는 0/9 — 응답 규약 미확정, 지어내지 않음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1261</Words>
  <Application>Microsoft Office PowerPoint</Application>
  <PresentationFormat>화면 슬라이드 쇼(16:9)</PresentationFormat>
  <Paragraphs>143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제수민(Je Soomin)/AX Solution서비스2팀/SK</cp:lastModifiedBy>
  <cp:revision>5</cp:revision>
  <dcterms:created xsi:type="dcterms:W3CDTF">2026-03-16T07:29:48Z</dcterms:created>
  <dcterms:modified xsi:type="dcterms:W3CDTF">2026-09-11T01:09:28Z</dcterms:modified>
</cp:coreProperties>
</file>